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ink/ink3.xml" ContentType="application/inkml+xml"/>
  <Override PartName="/ppt/ink/ink4.xml" ContentType="application/inkml+xml"/>
  <Override PartName="/ppt/notesSlides/notesSlide9.xml" ContentType="application/vnd.openxmlformats-officedocument.presentationml.notesSlide+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16"/>
  </p:notesMasterIdLst>
  <p:sldIdLst>
    <p:sldId id="257" r:id="rId5"/>
    <p:sldId id="258" r:id="rId6"/>
    <p:sldId id="259" r:id="rId7"/>
    <p:sldId id="268" r:id="rId8"/>
    <p:sldId id="261" r:id="rId9"/>
    <p:sldId id="260" r:id="rId10"/>
    <p:sldId id="262" r:id="rId11"/>
    <p:sldId id="263" r:id="rId12"/>
    <p:sldId id="264" r:id="rId13"/>
    <p:sldId id="265" r:id="rId14"/>
    <p:sldId id="267" r:id="rId15"/>
  </p:sldIdLst>
  <p:sldSz cx="12192000" cy="6858000"/>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13" autoAdjust="0"/>
  </p:normalViewPr>
  <p:slideViewPr>
    <p:cSldViewPr snapToGrid="0">
      <p:cViewPr varScale="1">
        <p:scale>
          <a:sx n="73" d="100"/>
          <a:sy n="73" d="100"/>
        </p:scale>
        <p:origin x="1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en-PH"/>
          </a:p>
        </p:txBody>
      </p:sp>
      <p:sp>
        <p:nvSpPr>
          <p:cNvPr id="3" name="Date Placeholder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53FA57CA-15DA-4E3C-8ACC-DFD5341A9866}" type="datetimeFigureOut">
              <a:rPr lang="en-PH" smtClean="0"/>
              <a:t>04/07/2026</a:t>
            </a:fld>
            <a:endParaRPr lang="en-PH"/>
          </a:p>
        </p:txBody>
      </p:sp>
      <p:sp>
        <p:nvSpPr>
          <p:cNvPr id="4" name="Slide Image Placeholder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06" tIns="48303" rIns="96606" bIns="48303" rtlCol="0" anchor="ctr"/>
          <a:lstStyle/>
          <a:p>
            <a:endParaRPr lang="en-PH"/>
          </a:p>
        </p:txBody>
      </p:sp>
      <p:sp>
        <p:nvSpPr>
          <p:cNvPr id="5" name="Notes Placeholder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en-PH"/>
          </a:p>
        </p:txBody>
      </p:sp>
      <p:sp>
        <p:nvSpPr>
          <p:cNvPr id="7" name="Slide Number Placeholder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889AB216-703E-453B-8FEF-77A64385AA89}" type="slidenum">
              <a:rPr lang="en-PH" smtClean="0"/>
              <a:t>‹#›</a:t>
            </a:fld>
            <a:endParaRPr lang="en-PH"/>
          </a:p>
        </p:txBody>
      </p:sp>
    </p:spTree>
    <p:extLst>
      <p:ext uri="{BB962C8B-B14F-4D97-AF65-F5344CB8AC3E}">
        <p14:creationId xmlns:p14="http://schemas.microsoft.com/office/powerpoint/2010/main" val="24082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3</a:t>
            </a:fld>
            <a:endParaRPr lang="en-PH"/>
          </a:p>
        </p:txBody>
      </p:sp>
    </p:spTree>
    <p:extLst>
      <p:ext uri="{BB962C8B-B14F-4D97-AF65-F5344CB8AC3E}">
        <p14:creationId xmlns:p14="http://schemas.microsoft.com/office/powerpoint/2010/main" val="226501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3404-0018-DBAE-3E97-0684049D5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A9372-5A98-D26D-22F5-07392011B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F875C-A787-C33A-B92A-5BD0699FB0C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9AC637E-D3A1-31F3-9B47-972ACA069AD9}"/>
              </a:ext>
            </a:extLst>
          </p:cNvPr>
          <p:cNvSpPr>
            <a:spLocks noGrp="1"/>
          </p:cNvSpPr>
          <p:nvPr>
            <p:ph type="sldNum" sz="quarter" idx="5"/>
          </p:nvPr>
        </p:nvSpPr>
        <p:spPr/>
        <p:txBody>
          <a:bodyPr/>
          <a:lstStyle/>
          <a:p>
            <a:fld id="{889AB216-703E-453B-8FEF-77A64385AA89}" type="slidenum">
              <a:rPr lang="en-PH" smtClean="0"/>
              <a:t>4</a:t>
            </a:fld>
            <a:endParaRPr lang="en-PH"/>
          </a:p>
        </p:txBody>
      </p:sp>
    </p:spTree>
    <p:extLst>
      <p:ext uri="{BB962C8B-B14F-4D97-AF65-F5344CB8AC3E}">
        <p14:creationId xmlns:p14="http://schemas.microsoft.com/office/powerpoint/2010/main" val="787705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5</a:t>
            </a:fld>
            <a:endParaRPr lang="en-PH"/>
          </a:p>
        </p:txBody>
      </p:sp>
    </p:spTree>
    <p:extLst>
      <p:ext uri="{BB962C8B-B14F-4D97-AF65-F5344CB8AC3E}">
        <p14:creationId xmlns:p14="http://schemas.microsoft.com/office/powerpoint/2010/main" val="2445367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6</a:t>
            </a:fld>
            <a:endParaRPr lang="en-PH"/>
          </a:p>
        </p:txBody>
      </p:sp>
    </p:spTree>
    <p:extLst>
      <p:ext uri="{BB962C8B-B14F-4D97-AF65-F5344CB8AC3E}">
        <p14:creationId xmlns:p14="http://schemas.microsoft.com/office/powerpoint/2010/main" val="1343563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380D-C4DA-69CD-0E03-EFE8356BF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BA23E-006A-7AB8-C2A9-E3D5E7DB6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1853D-F275-8867-80CB-7271904A0A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A295B3E-C787-9C9E-9E35-EEAB5C700533}"/>
              </a:ext>
            </a:extLst>
          </p:cNvPr>
          <p:cNvSpPr>
            <a:spLocks noGrp="1"/>
          </p:cNvSpPr>
          <p:nvPr>
            <p:ph type="sldNum" sz="quarter" idx="5"/>
          </p:nvPr>
        </p:nvSpPr>
        <p:spPr/>
        <p:txBody>
          <a:bodyPr/>
          <a:lstStyle/>
          <a:p>
            <a:fld id="{889AB216-703E-453B-8FEF-77A64385AA89}" type="slidenum">
              <a:rPr lang="en-PH" smtClean="0"/>
              <a:t>7</a:t>
            </a:fld>
            <a:endParaRPr lang="en-PH"/>
          </a:p>
        </p:txBody>
      </p:sp>
    </p:spTree>
    <p:extLst>
      <p:ext uri="{BB962C8B-B14F-4D97-AF65-F5344CB8AC3E}">
        <p14:creationId xmlns:p14="http://schemas.microsoft.com/office/powerpoint/2010/main" val="398168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b="1" i="0" kern="1200" dirty="0">
                <a:solidFill>
                  <a:schemeClr val="tx1"/>
                </a:solidFill>
                <a:effectLst/>
                <a:latin typeface="+mn-lt"/>
                <a:ea typeface="+mn-ea"/>
                <a:cs typeface="+mn-cs"/>
              </a:rPr>
              <a:t>Module 6.1 - NSPE Code of Ethics for Engineers.pdf</a:t>
            </a:r>
            <a:r>
              <a:rPr lang="en-PH" sz="1200" b="0" i="0" kern="1200" dirty="0">
                <a:solidFill>
                  <a:schemeClr val="tx1"/>
                </a:solidFill>
                <a:effectLst/>
                <a:latin typeface="+mn-lt"/>
                <a:ea typeface="+mn-ea"/>
                <a:cs typeface="+mn-cs"/>
              </a:rPr>
              <a:t>: This is the primary reference for this scenario. It contains the exact mandates regarding deceptive acts (Fundamental Canon 5), the rules against signing documents not prepared under your direct control (Rules of Practice II.2.b), the obligation to give proper credit to those who did the engineering work (Professional Obligations III.9), and the strict requirement to report violations to the proper authorities (Rules of Practice II.1.f).</a:t>
            </a:r>
            <a:br>
              <a:rPr lang="en-PH" sz="1200" b="0" i="0" kern="1200" dirty="0">
                <a:solidFill>
                  <a:schemeClr val="tx1"/>
                </a:solidFill>
                <a:effectLst/>
                <a:latin typeface="+mn-lt"/>
                <a:ea typeface="+mn-ea"/>
                <a:cs typeface="+mn-cs"/>
              </a:rPr>
            </a:br>
            <a:r>
              <a:rPr lang="en-PH" sz="1200" b="1" i="0" kern="1200" dirty="0">
                <a:solidFill>
                  <a:schemeClr val="tx1"/>
                </a:solidFill>
                <a:effectLst/>
                <a:latin typeface="+mn-lt"/>
                <a:ea typeface="+mn-ea"/>
                <a:cs typeface="+mn-cs"/>
              </a:rPr>
              <a:t>Module 4 - Research Integrity and PRofessionalism.pdf</a:t>
            </a:r>
            <a:r>
              <a:rPr lang="en-PH" sz="1200" b="0" i="0" kern="1200" dirty="0">
                <a:solidFill>
                  <a:schemeClr val="tx1"/>
                </a:solidFill>
                <a:effectLst/>
                <a:latin typeface="+mn-lt"/>
                <a:ea typeface="+mn-ea"/>
                <a:cs typeface="+mn-cs"/>
              </a:rPr>
              <a:t>: This module is the reference for the strict definitions of "Plagiarism," which covers the corrupt Planner's actions of appropriating your AutoCAD designs, ideas, and labor without providing proper attribution or recognizing your intellectual property.</a:t>
            </a:r>
          </a:p>
          <a:p>
            <a:endParaRPr lang="en-PH"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89AB216-703E-453B-8FEF-77A64385AA89}" type="slidenum">
              <a:rPr lang="en-PH" smtClean="0"/>
              <a:t>8</a:t>
            </a:fld>
            <a:endParaRPr lang="en-PH"/>
          </a:p>
        </p:txBody>
      </p:sp>
    </p:spTree>
    <p:extLst>
      <p:ext uri="{BB962C8B-B14F-4D97-AF65-F5344CB8AC3E}">
        <p14:creationId xmlns:p14="http://schemas.microsoft.com/office/powerpoint/2010/main" val="3312130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99DFC-F086-898C-9980-521B473F1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30CFB-5DBD-B173-8634-65EA00529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E040C-63C6-32D0-7395-73EA1FA5027F}"/>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6.1 - NSPE Code of Ethics for Engineers.pdf</a:t>
            </a:r>
            <a:r>
              <a:rPr lang="en-PH" sz="1200" b="0" i="0" kern="1200" dirty="0">
                <a:solidFill>
                  <a:schemeClr val="tx1"/>
                </a:solidFill>
                <a:effectLst/>
                <a:latin typeface="+mn-lt"/>
                <a:ea typeface="+mn-ea"/>
                <a:cs typeface="+mn-cs"/>
              </a:rPr>
              <a:t>: This is the primary reference for this scenario. It contains the exact mandates regarding deceptive acts (Fundamental Canon 5), the rules against signing documents not prepared under your direct control (Rules of Practice II.2.b), the obligation to give proper credit to those who did the engineering work (Professional Obligations III.9), and the strict requirement to report violations to the proper authorities (Rules of Practice II.1.f).</a:t>
            </a:r>
          </a:p>
        </p:txBody>
      </p:sp>
      <p:sp>
        <p:nvSpPr>
          <p:cNvPr id="4" name="Slide Number Placeholder 3">
            <a:extLst>
              <a:ext uri="{FF2B5EF4-FFF2-40B4-BE49-F238E27FC236}">
                <a16:creationId xmlns:a16="http://schemas.microsoft.com/office/drawing/2014/main" id="{DE526BC0-095B-10EF-54E6-552D1C57566A}"/>
              </a:ext>
            </a:extLst>
          </p:cNvPr>
          <p:cNvSpPr>
            <a:spLocks noGrp="1"/>
          </p:cNvSpPr>
          <p:nvPr>
            <p:ph type="sldNum" sz="quarter" idx="5"/>
          </p:nvPr>
        </p:nvSpPr>
        <p:spPr/>
        <p:txBody>
          <a:bodyPr/>
          <a:lstStyle/>
          <a:p>
            <a:fld id="{889AB216-703E-453B-8FEF-77A64385AA89}" type="slidenum">
              <a:rPr lang="en-PH" smtClean="0"/>
              <a:t>9</a:t>
            </a:fld>
            <a:endParaRPr lang="en-PH"/>
          </a:p>
        </p:txBody>
      </p:sp>
    </p:spTree>
    <p:extLst>
      <p:ext uri="{BB962C8B-B14F-4D97-AF65-F5344CB8AC3E}">
        <p14:creationId xmlns:p14="http://schemas.microsoft.com/office/powerpoint/2010/main" val="1270116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6D6A-EEEC-0629-70EF-BA1961C54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72F17-83F0-1D42-E94C-6F594AA5D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ACCFA-4A2D-349D-C399-2B8FE34AE391}"/>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6.3 - ABET Code of Ethics.pdf</a:t>
            </a:r>
            <a:r>
              <a:rPr lang="en-PH" sz="1200" b="0" i="0" kern="1200" dirty="0">
                <a:solidFill>
                  <a:schemeClr val="tx1"/>
                </a:solidFill>
                <a:effectLst/>
                <a:latin typeface="+mn-lt"/>
                <a:ea typeface="+mn-ea"/>
                <a:cs typeface="+mn-cs"/>
              </a:rPr>
              <a:t>: This module serves as the reference for the ABET Suggested Guidelines, specifically the rule that engineers must present information to the proper authorities in writing if they have reason to believe another person or firm is violating ethical provisions.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b="1" i="0" kern="1200" dirty="0">
                <a:solidFill>
                  <a:schemeClr val="tx1"/>
                </a:solidFill>
                <a:effectLst/>
                <a:latin typeface="+mn-lt"/>
                <a:ea typeface="+mn-ea"/>
                <a:cs typeface="+mn-cs"/>
              </a:rPr>
              <a:t>Module 6.2 - Key Concepts in Engineering Ethics.pdf</a:t>
            </a:r>
            <a:r>
              <a:rPr lang="en-PH" sz="1200" b="0" i="0" kern="1200" dirty="0">
                <a:solidFill>
                  <a:schemeClr val="tx1"/>
                </a:solidFill>
                <a:effectLst/>
                <a:latin typeface="+mn-lt"/>
                <a:ea typeface="+mn-ea"/>
                <a:cs typeface="+mn-cs"/>
              </a:rPr>
              <a:t>: This module provides the foundational definitions for navigating workplace disputes, professional responsibility, and the ethical justification for whistleblowing when management is complicit in corruption.</a:t>
            </a:r>
          </a:p>
          <a:p>
            <a:endParaRPr lang="en-PH"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7AB31BA-B23E-C1AC-0043-E008AF52D730}"/>
              </a:ext>
            </a:extLst>
          </p:cNvPr>
          <p:cNvSpPr>
            <a:spLocks noGrp="1"/>
          </p:cNvSpPr>
          <p:nvPr>
            <p:ph type="sldNum" sz="quarter" idx="5"/>
          </p:nvPr>
        </p:nvSpPr>
        <p:spPr/>
        <p:txBody>
          <a:bodyPr/>
          <a:lstStyle/>
          <a:p>
            <a:fld id="{889AB216-703E-453B-8FEF-77A64385AA89}" type="slidenum">
              <a:rPr lang="en-PH" smtClean="0"/>
              <a:t>10</a:t>
            </a:fld>
            <a:endParaRPr lang="en-PH"/>
          </a:p>
        </p:txBody>
      </p:sp>
    </p:spTree>
    <p:extLst>
      <p:ext uri="{BB962C8B-B14F-4D97-AF65-F5344CB8AC3E}">
        <p14:creationId xmlns:p14="http://schemas.microsoft.com/office/powerpoint/2010/main" val="1897154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48F5-56BE-0231-EEBA-2A4BDAC7D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46B7E-1AF9-90C2-0AA6-862BB370E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E41A7-278E-7CC6-5B14-974C7C33B0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A2F225A-94D2-315F-CB76-7D768BDCF967}"/>
              </a:ext>
            </a:extLst>
          </p:cNvPr>
          <p:cNvSpPr>
            <a:spLocks noGrp="1"/>
          </p:cNvSpPr>
          <p:nvPr>
            <p:ph type="sldNum" sz="quarter" idx="5"/>
          </p:nvPr>
        </p:nvSpPr>
        <p:spPr/>
        <p:txBody>
          <a:bodyPr/>
          <a:lstStyle/>
          <a:p>
            <a:fld id="{889AB216-703E-453B-8FEF-77A64385AA89}" type="slidenum">
              <a:rPr lang="en-PH" smtClean="0"/>
              <a:t>11</a:t>
            </a:fld>
            <a:endParaRPr lang="en-PH"/>
          </a:p>
        </p:txBody>
      </p:sp>
    </p:spTree>
    <p:extLst>
      <p:ext uri="{BB962C8B-B14F-4D97-AF65-F5344CB8AC3E}">
        <p14:creationId xmlns:p14="http://schemas.microsoft.com/office/powerpoint/2010/main" val="2280322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Recitation </a:t>
            </a:r>
            <a:r>
              <a:rPr lang="en-US" dirty="0"/>
              <a:t>3</a:t>
            </a: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err="1">
                <a:solidFill>
                  <a:schemeClr val="tx1">
                    <a:lumMod val="85000"/>
                    <a:lumOff val="15000"/>
                  </a:schemeClr>
                </a:solidFill>
              </a:rPr>
              <a:t>Mexe</a:t>
            </a:r>
            <a:r>
              <a:rPr lang="en-US" dirty="0">
                <a:solidFill>
                  <a:schemeClr val="tx1">
                    <a:lumMod val="85000"/>
                    <a:lumOff val="15000"/>
                  </a:schemeClr>
                </a:solidFill>
              </a:rPr>
              <a:t> 410: Codes, Standards and Professional Ethics for </a:t>
            </a:r>
            <a:r>
              <a:rPr lang="en-US" dirty="0" err="1">
                <a:solidFill>
                  <a:schemeClr val="tx1">
                    <a:lumMod val="85000"/>
                    <a:lumOff val="15000"/>
                  </a:schemeClr>
                </a:solidFill>
              </a:rPr>
              <a:t>MExE</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40762" y="683796"/>
            <a:ext cx="10576978" cy="3892168"/>
          </a:xfrm>
        </p:spPr>
        <p:txBody>
          <a:bodyPr anchor="ctr">
            <a:normAutofit fontScale="90000"/>
          </a:bodyPr>
          <a:lstStyle/>
          <a:p>
            <a:pPr lvl="0"/>
            <a:r>
              <a:rPr lang="en-PH" dirty="0"/>
              <a:t>"This isn't about money. This is about right and wrong. I want them to admit that it was my invention."</a:t>
            </a:r>
            <a:endParaRPr lang="en-US" sz="4800" i="1" dirty="0">
              <a:solidFill>
                <a:srgbClr val="FFFFFF"/>
              </a:solidFill>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066783" y="5259760"/>
            <a:ext cx="10058400" cy="1143000"/>
          </a:xfrm>
        </p:spPr>
        <p:txBody>
          <a:bodyPr>
            <a:normAutofit/>
          </a:bodyPr>
          <a:lstStyle/>
          <a:p>
            <a:r>
              <a:rPr lang="en-PH" dirty="0">
                <a:solidFill>
                  <a:schemeClr val="bg1"/>
                </a:solidFill>
                <a:latin typeface="Calibri" panose="020F0502020204030204" pitchFamily="34" charset="0"/>
                <a:cs typeface="Calibri" panose="020F0502020204030204" pitchFamily="34" charset="0"/>
              </a:rPr>
              <a:t>— </a:t>
            </a:r>
            <a:r>
              <a:rPr lang="en-PH" dirty="0">
                <a:solidFill>
                  <a:schemeClr val="bg1"/>
                </a:solidFill>
              </a:rPr>
              <a:t>Robert Kearns, Flash of Genius (2008)</a:t>
            </a:r>
            <a:endParaRPr lang="en-US"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0373-A383-48A8-587E-6C8659D34A14}"/>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5E5CBB8D-39E7-E4A8-C8C9-A3B176447672}"/>
              </a:ext>
            </a:extLst>
          </p:cNvPr>
          <p:cNvSpPr>
            <a:spLocks noGrp="1"/>
          </p:cNvSpPr>
          <p:nvPr>
            <p:ph idx="1"/>
          </p:nvPr>
        </p:nvSpPr>
        <p:spPr>
          <a:xfrm>
            <a:off x="604213" y="1857160"/>
            <a:ext cx="5045025" cy="4373593"/>
          </a:xfrm>
        </p:spPr>
        <p:txBody>
          <a:bodyPr>
            <a:noAutofit/>
          </a:bodyPr>
          <a:lstStyle/>
          <a:p>
            <a:pPr algn="just"/>
            <a:r>
              <a:rPr lang="en-PH" sz="2400" b="1" dirty="0"/>
              <a:t>The Story:</a:t>
            </a:r>
            <a:endParaRPr lang="en-PH" sz="2400" dirty="0"/>
          </a:p>
          <a:p>
            <a:pPr algn="just"/>
            <a:r>
              <a:rPr lang="en-PH" sz="2400" dirty="0"/>
              <a:t>"Imagine you are a young Maintenance Cadet Engineer assigned to a manufacturing plant. A strict Production Manager, who is neither your direct boss nor the Maintenance Manager, commands you to draw and document the plant's official Fire Evacuation Plan and Maintenance Plan for an upcoming audit.</a:t>
            </a:r>
          </a:p>
          <a:p>
            <a:pPr algn="just"/>
            <a:r>
              <a:rPr lang="en-PH" sz="2400" dirty="0"/>
              <a:t>”</a:t>
            </a:r>
          </a:p>
        </p:txBody>
      </p:sp>
      <p:sp>
        <p:nvSpPr>
          <p:cNvPr id="4" name="Content Placeholder 2">
            <a:extLst>
              <a:ext uri="{FF2B5EF4-FFF2-40B4-BE49-F238E27FC236}">
                <a16:creationId xmlns:a16="http://schemas.microsoft.com/office/drawing/2014/main" id="{6A76F766-13AB-BE39-8AD5-8E2282B3701F}"/>
              </a:ext>
            </a:extLst>
          </p:cNvPr>
          <p:cNvSpPr txBox="1">
            <a:spLocks/>
          </p:cNvSpPr>
          <p:nvPr/>
        </p:nvSpPr>
        <p:spPr>
          <a:xfrm>
            <a:off x="6096000" y="1865928"/>
            <a:ext cx="5491787" cy="3925964"/>
          </a:xfrm>
          <a:prstGeom prst="rect">
            <a:avLst/>
          </a:prstGeom>
        </p:spPr>
        <p:txBody>
          <a:bodyPr vert="horz" lIns="0" tIns="45720" rIns="0" bIns="45720" rtlCol="0">
            <a:noAutofit/>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n-PH" sz="2000" dirty="0"/>
              <a:t>You quickly realize there are three major problems: </a:t>
            </a:r>
          </a:p>
          <a:p>
            <a:pPr algn="just"/>
            <a:r>
              <a:rPr lang="en-PH" sz="2000" b="1" dirty="0"/>
              <a:t>1. The Incompetent Planner: </a:t>
            </a:r>
            <a:r>
              <a:rPr lang="en-PH" sz="2000" dirty="0"/>
              <a:t>This task is actually the official job of the Maintenance Planner. However, the Planner is not an engineer, does not know how to use AutoCAD, spends most of the time slacking off, and actively promotes gambling on the production floor. </a:t>
            </a:r>
          </a:p>
          <a:p>
            <a:pPr algn="just"/>
            <a:r>
              <a:rPr lang="en-PH" sz="2000" b="1" dirty="0"/>
              <a:t>2. The Phantom Engineer: </a:t>
            </a:r>
            <a:r>
              <a:rPr lang="en-PH" sz="2000" dirty="0"/>
              <a:t>You are expected to do 100% of the technical AutoCAD work, but your name and signature will </a:t>
            </a:r>
            <a:r>
              <a:rPr lang="en-PH" sz="2000" b="1" dirty="0"/>
              <a:t>not </a:t>
            </a:r>
            <a:r>
              <a:rPr lang="en-PH" sz="2000" dirty="0"/>
              <a:t>be included on any of the final documents. The Planner will take the full credit. </a:t>
            </a:r>
          </a:p>
        </p:txBody>
      </p:sp>
    </p:spTree>
    <p:extLst>
      <p:ext uri="{BB962C8B-B14F-4D97-AF65-F5344CB8AC3E}">
        <p14:creationId xmlns:p14="http://schemas.microsoft.com/office/powerpoint/2010/main" val="3262463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1AF36-354D-2FC3-CB32-93A6E1E0B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B048A-ADC1-157E-BCB4-EC0060FDCA71}"/>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97F4A83A-8EE5-5820-C4D2-5426C3A26943}"/>
              </a:ext>
            </a:extLst>
          </p:cNvPr>
          <p:cNvSpPr>
            <a:spLocks noGrp="1"/>
          </p:cNvSpPr>
          <p:nvPr>
            <p:ph idx="1"/>
          </p:nvPr>
        </p:nvSpPr>
        <p:spPr>
          <a:xfrm>
            <a:off x="582480" y="2070103"/>
            <a:ext cx="11027039" cy="4373593"/>
          </a:xfrm>
        </p:spPr>
        <p:txBody>
          <a:bodyPr>
            <a:noAutofit/>
          </a:bodyPr>
          <a:lstStyle/>
          <a:p>
            <a:pPr algn="just"/>
            <a:r>
              <a:rPr lang="en-PH" sz="2400" b="1" dirty="0"/>
              <a:t>3. The Corrupt System: </a:t>
            </a:r>
            <a:r>
              <a:rPr lang="en-PH" sz="2400" dirty="0"/>
              <a:t>The Production Manager, the Maintenance Manager, and the plant's HR department are all completely aware of what the Planner is doing, and they tolerate it. </a:t>
            </a:r>
          </a:p>
          <a:p>
            <a:pPr algn="just"/>
            <a:endParaRPr lang="en-PH" sz="2400" dirty="0"/>
          </a:p>
          <a:p>
            <a:pPr algn="just"/>
            <a:r>
              <a:rPr lang="en-PH" sz="2400" dirty="0"/>
              <a:t>Fortunately, your actual superior, the Vice President of the company, gives you a schedule to be transferred to a different plant for a new assignment. You realize that because they refuse to put your name on the documents, they have zero evidence that you were ever assigned to the task." </a:t>
            </a:r>
          </a:p>
        </p:txBody>
      </p:sp>
    </p:spTree>
    <p:extLst>
      <p:ext uri="{BB962C8B-B14F-4D97-AF65-F5344CB8AC3E}">
        <p14:creationId xmlns:p14="http://schemas.microsoft.com/office/powerpoint/2010/main" val="2549222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FB01-55F6-44F3-65A5-1ED742AE73F7}"/>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8919335E-3B3A-08CE-E21A-E3CF8C40F316}"/>
              </a:ext>
            </a:extLst>
          </p:cNvPr>
          <p:cNvSpPr>
            <a:spLocks noGrp="1"/>
          </p:cNvSpPr>
          <p:nvPr>
            <p:ph idx="1"/>
          </p:nvPr>
        </p:nvSpPr>
        <p:spPr>
          <a:xfrm>
            <a:off x="1097280" y="2108200"/>
            <a:ext cx="10058400" cy="4104709"/>
          </a:xfrm>
        </p:spPr>
        <p:txBody>
          <a:bodyPr anchor="ctr">
            <a:normAutofit fontScale="85000" lnSpcReduction="10000"/>
          </a:bodyPr>
          <a:lstStyle/>
          <a:p>
            <a:r>
              <a:rPr lang="en-PH" sz="2800" dirty="0"/>
              <a:t>What will you do with the task before your transfer date?</a:t>
            </a:r>
          </a:p>
          <a:p>
            <a:r>
              <a:rPr lang="en-PH" sz="2800" b="1" dirty="0"/>
              <a:t>Will you finish the documents to be a 'good employee' before leaving? </a:t>
            </a:r>
            <a:r>
              <a:rPr lang="en-PH" sz="2800" dirty="0"/>
              <a:t>(If yes, how do you justify doing uncredited, free labor for a corrupt management team?) </a:t>
            </a:r>
          </a:p>
          <a:p>
            <a:r>
              <a:rPr lang="en-PH" sz="2800" b="1" dirty="0"/>
              <a:t>Will you report the entire situation to the VP? </a:t>
            </a:r>
            <a:r>
              <a:rPr lang="en-PH" sz="2800" dirty="0"/>
              <a:t>(If yes, are you ready to act as a whistleblower against an entire plant's management, including HR?) </a:t>
            </a:r>
          </a:p>
          <a:p>
            <a:r>
              <a:rPr lang="en-PH" sz="2800" b="1" dirty="0"/>
              <a:t>Will you maliciously comply by starting the task but intentionally leaving it unfinished? </a:t>
            </a:r>
            <a:r>
              <a:rPr lang="en-PH" sz="2800" dirty="0"/>
              <a:t>(If yes, is it ethical for an engineer to leave critical safety documents, like a fire evacuation plan, pending?)</a:t>
            </a:r>
            <a:endParaRPr lang="en-PH" dirty="0"/>
          </a:p>
        </p:txBody>
      </p:sp>
    </p:spTree>
    <p:extLst>
      <p:ext uri="{BB962C8B-B14F-4D97-AF65-F5344CB8AC3E}">
        <p14:creationId xmlns:p14="http://schemas.microsoft.com/office/powerpoint/2010/main" val="291823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7BAC-524E-84F9-FB26-DD53D8E0D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EC631-94DB-43F4-D7AE-15E8914A6110}"/>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740F0400-382F-A8A2-C600-536DC35FE465}"/>
              </a:ext>
            </a:extLst>
          </p:cNvPr>
          <p:cNvSpPr>
            <a:spLocks noGrp="1"/>
          </p:cNvSpPr>
          <p:nvPr>
            <p:ph idx="1"/>
          </p:nvPr>
        </p:nvSpPr>
        <p:spPr>
          <a:xfrm>
            <a:off x="283923" y="1211893"/>
            <a:ext cx="11624153" cy="4434214"/>
          </a:xfrm>
        </p:spPr>
        <p:txBody>
          <a:bodyPr>
            <a:noAutofit/>
          </a:bodyPr>
          <a:lstStyle/>
          <a:p>
            <a:pPr algn="just"/>
            <a:r>
              <a:rPr lang="en-PH" sz="2400" b="1" dirty="0"/>
              <a:t>Here is the twist of the story:</a:t>
            </a:r>
          </a:p>
          <a:p>
            <a:pPr algn="just"/>
            <a:r>
              <a:rPr lang="en-PH" sz="2400" dirty="0"/>
              <a:t>“I was that Maintenance Cadet Engineer from long ago.</a:t>
            </a:r>
          </a:p>
          <a:p>
            <a:pPr marL="0" indent="0" algn="just">
              <a:buNone/>
            </a:pPr>
            <a:r>
              <a:rPr lang="en-PH" sz="2400" dirty="0"/>
              <a:t>Because of the sheer injustice of the plant's management, I came up with a plan. I began the task to keep them quiet, but I intentionally did not finish it. When my transfer date arrived, I walked away. The Production Manager was furious with me, but she was trapped, she couldn't report me to the VP without exposing the truth that they were forcing a Cadet to do the Planner's job while tolerating gambling on the floor. I transferred out successfully, thinking I had beaten the system and taught them a lesson. But the story has a bitter ending. The corrupt management didn't learn a lesson. They simply waited. Soon after, a younger, brand-new Cadet Engineer was assigned to the plant. Management successfully bullied that younger engineer into doing the exact same uncredited task, and the corrupt Planner got the credit anyway." </a:t>
            </a:r>
          </a:p>
        </p:txBody>
      </p:sp>
    </p:spTree>
    <p:extLst>
      <p:ext uri="{BB962C8B-B14F-4D97-AF65-F5344CB8AC3E}">
        <p14:creationId xmlns:p14="http://schemas.microsoft.com/office/powerpoint/2010/main" val="3130924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A573-A75B-273E-1A3F-41E852B8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57764-5E52-0747-8AFD-B4D9D5B45F66}"/>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9CE0D318-D7D2-4571-091D-0961DCBC6FE4}"/>
              </a:ext>
            </a:extLst>
          </p:cNvPr>
          <p:cNvSpPr>
            <a:spLocks noGrp="1"/>
          </p:cNvSpPr>
          <p:nvPr>
            <p:ph idx="1"/>
          </p:nvPr>
        </p:nvSpPr>
        <p:spPr>
          <a:xfrm>
            <a:off x="1097280" y="1872343"/>
            <a:ext cx="10058400" cy="4572000"/>
          </a:xfrm>
        </p:spPr>
        <p:txBody>
          <a:bodyPr>
            <a:normAutofit fontScale="85000" lnSpcReduction="20000"/>
          </a:bodyPr>
          <a:lstStyle/>
          <a:p>
            <a:pPr algn="just"/>
            <a:r>
              <a:rPr lang="en-PH" sz="2400" b="1" dirty="0"/>
              <a:t>POV 1: The Younger Cadet Engineer.</a:t>
            </a:r>
          </a:p>
          <a:p>
            <a:pPr algn="just"/>
            <a:r>
              <a:rPr lang="en-PH" sz="2400" i="1" dirty="0"/>
              <a:t>Question:</a:t>
            </a:r>
            <a:r>
              <a:rPr lang="en-PH" sz="2400" dirty="0"/>
              <a:t> </a:t>
            </a:r>
            <a:r>
              <a:rPr lang="en-US" sz="2400" dirty="0"/>
              <a:t>Think about the psychological toll of having your intellectual property stolen by a system you cannot fight. As the fresh graduate who inherited this trap, do you blame the corrupt management, or do you also blame the previous Cadet (me) for not exposing the system to the VP when he had the chance?</a:t>
            </a:r>
            <a:r>
              <a:rPr lang="en-PH" sz="2400" dirty="0"/>
              <a:t> </a:t>
            </a:r>
          </a:p>
          <a:p>
            <a:pPr algn="just"/>
            <a:r>
              <a:rPr lang="en-PH" sz="2400" b="1" dirty="0"/>
              <a:t>POV 2: The Production Manager &amp; HR</a:t>
            </a:r>
            <a:r>
              <a:rPr lang="en-PH" sz="2400" dirty="0"/>
              <a:t>.</a:t>
            </a:r>
            <a:endParaRPr lang="en-PH" sz="2400" b="1" dirty="0"/>
          </a:p>
          <a:p>
            <a:pPr algn="just"/>
            <a:r>
              <a:rPr lang="en-PH" sz="2400" i="1" dirty="0"/>
              <a:t>Question:</a:t>
            </a:r>
            <a:r>
              <a:rPr lang="en-PH" sz="2400" dirty="0"/>
              <a:t> By covering for an incompetent, gambling Planner and extorting work from Cadets, are they guilty of professional malpractice? </a:t>
            </a:r>
          </a:p>
          <a:p>
            <a:pPr algn="just"/>
            <a:r>
              <a:rPr lang="en-PH" sz="2400" b="1" dirty="0"/>
              <a:t>POV 3: The Professional Mechatronics Engineer.</a:t>
            </a:r>
            <a:endParaRPr lang="en-PH" sz="2400" dirty="0"/>
          </a:p>
          <a:p>
            <a:pPr algn="just"/>
            <a:r>
              <a:rPr lang="en-PH" sz="2400" i="1" dirty="0"/>
              <a:t>Question:</a:t>
            </a:r>
            <a:r>
              <a:rPr lang="en-PH" sz="2400" dirty="0"/>
              <a:t> Look at my past actions through the lens of Professional Ethics. I protected myself and escaped the plant, but did I fail my ethical duty by staying silent and allowing a younger engineer to be exploited? </a:t>
            </a:r>
          </a:p>
        </p:txBody>
      </p:sp>
    </p:spTree>
    <p:extLst>
      <p:ext uri="{BB962C8B-B14F-4D97-AF65-F5344CB8AC3E}">
        <p14:creationId xmlns:p14="http://schemas.microsoft.com/office/powerpoint/2010/main" val="3993865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1CD7-6840-12B1-E3EE-EC91300A79DB}"/>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03AA1FD6-712A-D621-8E39-AA0437AD2FBF}"/>
              </a:ext>
            </a:extLst>
          </p:cNvPr>
          <p:cNvSpPr>
            <a:spLocks noGrp="1"/>
          </p:cNvSpPr>
          <p:nvPr>
            <p:ph idx="1"/>
          </p:nvPr>
        </p:nvSpPr>
        <p:spPr>
          <a:xfrm>
            <a:off x="1097280" y="2108201"/>
            <a:ext cx="10058400" cy="4463196"/>
          </a:xfrm>
        </p:spPr>
        <p:txBody>
          <a:bodyPr>
            <a:normAutofit fontScale="85000" lnSpcReduction="10000"/>
          </a:bodyPr>
          <a:lstStyle/>
          <a:p>
            <a:pPr algn="just"/>
            <a:r>
              <a:rPr lang="en-PH" sz="2800" b="1" dirty="0"/>
              <a:t>Giving Credit and the "Phantom Engineer" Fraud</a:t>
            </a:r>
          </a:p>
          <a:p>
            <a:pPr algn="just">
              <a:buFont typeface="Wingdings" panose="05000000000000000000" pitchFamily="2" charset="2"/>
              <a:buChar char="§"/>
            </a:pPr>
            <a:r>
              <a:rPr lang="en-PH" sz="2800" dirty="0"/>
              <a:t>The demand that you perform 100% of the technical work while the Planner takes the signature and credit directly violates the rules governing intellectual property.</a:t>
            </a:r>
          </a:p>
          <a:p>
            <a:pPr algn="just">
              <a:buFont typeface="Wingdings" panose="05000000000000000000" pitchFamily="2" charset="2"/>
              <a:buChar char="§"/>
            </a:pPr>
            <a:r>
              <a:rPr lang="en-PH" sz="2800" b="1" dirty="0"/>
              <a:t>NSPE Professional Obligations III.9.a: </a:t>
            </a:r>
            <a:r>
              <a:rPr lang="en-PH" sz="2800" dirty="0"/>
              <a:t>"Engineers shall, whenever possible, name the person or persons who may be individually responsible for designs, inventions, writings, or other accomplishments." </a:t>
            </a:r>
          </a:p>
          <a:p>
            <a:pPr algn="just">
              <a:buFont typeface="Wingdings" panose="05000000000000000000" pitchFamily="2" charset="2"/>
              <a:buChar char="§"/>
            </a:pPr>
            <a:r>
              <a:rPr lang="en-PH" sz="2800" b="1" dirty="0"/>
              <a:t>Plagiarism: </a:t>
            </a:r>
            <a:r>
              <a:rPr lang="en-PH" sz="2800" dirty="0"/>
              <a:t>The Planner taking credit for your AutoCAD drawings falls strictly under the definition of plagiarism, appropriating another person's ideas or work without attributing them to their true source. </a:t>
            </a:r>
            <a:endParaRPr lang="en-PH" sz="2800" b="1" dirty="0"/>
          </a:p>
        </p:txBody>
      </p:sp>
    </p:spTree>
    <p:extLst>
      <p:ext uri="{BB962C8B-B14F-4D97-AF65-F5344CB8AC3E}">
        <p14:creationId xmlns:p14="http://schemas.microsoft.com/office/powerpoint/2010/main" val="3530586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CF3-BF6D-D7B0-1B3E-BD35C9771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EE162-E34A-E73E-8428-AE62C0B8FE9C}"/>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7D6581A8-27DB-6EBF-77C9-7E1D61F3D28E}"/>
              </a:ext>
            </a:extLst>
          </p:cNvPr>
          <p:cNvSpPr>
            <a:spLocks noGrp="1"/>
          </p:cNvSpPr>
          <p:nvPr>
            <p:ph idx="1"/>
          </p:nvPr>
        </p:nvSpPr>
        <p:spPr>
          <a:xfrm>
            <a:off x="426720" y="1915886"/>
            <a:ext cx="11521440" cy="4458787"/>
          </a:xfrm>
        </p:spPr>
        <p:txBody>
          <a:bodyPr>
            <a:normAutofit fontScale="92500" lnSpcReduction="20000"/>
          </a:bodyPr>
          <a:lstStyle/>
          <a:p>
            <a:pPr marL="0" indent="0">
              <a:buNone/>
            </a:pPr>
            <a:r>
              <a:rPr lang="en-PH" sz="3200" b="1" dirty="0"/>
              <a:t>Deceptive Acts and the Power Imbalance</a:t>
            </a:r>
          </a:p>
          <a:p>
            <a:pPr>
              <a:buFont typeface="Wingdings" panose="05000000000000000000" pitchFamily="2" charset="2"/>
              <a:buChar char="§"/>
            </a:pPr>
            <a:r>
              <a:rPr lang="en-PH" sz="3200" b="1" dirty="0"/>
              <a:t>NSPE Rules of Practice II.5.a: </a:t>
            </a:r>
            <a:r>
              <a:rPr lang="en-PH" sz="3200" dirty="0"/>
              <a:t>"Engineers shall not falsify their qualifications or permit misrepresentation of their or their associates’ qualifications." </a:t>
            </a:r>
          </a:p>
          <a:p>
            <a:pPr>
              <a:buFont typeface="Wingdings" panose="05000000000000000000" pitchFamily="2" charset="2"/>
              <a:buChar char="§"/>
            </a:pPr>
            <a:r>
              <a:rPr lang="en-PH" sz="3200" dirty="0"/>
              <a:t>When a system is owned by an ultra-wealthy entity and heavily protected by a complicit HR department, the psychological pressure to comply with deceptive acts is immense. However, engineering codes do not grant exceptions based on the wealth or intimidation factor of the employer.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6BCA511-BC77-50AC-4D89-C5E439FA9E46}"/>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B6BCA511-BC77-50AC-4D89-C5E439FA9E46}"/>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428003C-45F4-A184-869B-E4AC102D505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4428003C-45F4-A184-869B-E4AC102D505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3482393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A242-1854-2198-D67E-99066762E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B865C-405E-5D65-CB0A-C423770FE7F1}"/>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6F5226A-669E-7DF4-A7E3-128FF4B96D89}"/>
              </a:ext>
            </a:extLst>
          </p:cNvPr>
          <p:cNvSpPr>
            <a:spLocks noGrp="1"/>
          </p:cNvSpPr>
          <p:nvPr>
            <p:ph idx="1"/>
          </p:nvPr>
        </p:nvSpPr>
        <p:spPr>
          <a:xfrm>
            <a:off x="335280" y="1737360"/>
            <a:ext cx="11521440" cy="4655511"/>
          </a:xfrm>
        </p:spPr>
        <p:txBody>
          <a:bodyPr>
            <a:normAutofit lnSpcReduction="10000"/>
          </a:bodyPr>
          <a:lstStyle/>
          <a:p>
            <a:pPr marL="0" indent="0">
              <a:buNone/>
            </a:pPr>
            <a:r>
              <a:rPr lang="en-PH" sz="2400" b="1" dirty="0"/>
              <a:t>The Obligation to Report (Why the "Bitter Ending" is an Ethical Failure)</a:t>
            </a:r>
          </a:p>
          <a:p>
            <a:pPr>
              <a:buFont typeface="Wingdings" panose="05000000000000000000" pitchFamily="2" charset="2"/>
              <a:buChar char="§"/>
            </a:pPr>
            <a:r>
              <a:rPr lang="en-PH" sz="2400" dirty="0"/>
              <a:t>The twist reveals that the Cadet chose malicious compliance, escaping quietly to save themselves. While this is a deeply understandable human survival tactic, it was a professional failure. By walking away in silence, the Cadet allowed the corrupt system to psychologically crush the next victim. </a:t>
            </a:r>
          </a:p>
          <a:p>
            <a:pPr>
              <a:buFont typeface="Wingdings" panose="05000000000000000000" pitchFamily="2" charset="2"/>
              <a:buChar char="§"/>
            </a:pPr>
            <a:r>
              <a:rPr lang="en-PH" sz="2400" b="1" dirty="0"/>
              <a:t>NSPE Rules of Practice II.1.f: </a:t>
            </a:r>
            <a:r>
              <a:rPr lang="en-PH" sz="2400" dirty="0"/>
              <a:t>"Engineers having knowledge of any alleged violation of this Code shall report thereon to appropriate professional bodies and, when relevant, also to public authorities..." </a:t>
            </a:r>
          </a:p>
          <a:p>
            <a:pPr>
              <a:buFont typeface="Wingdings" panose="05000000000000000000" pitchFamily="2" charset="2"/>
              <a:buChar char="§"/>
            </a:pPr>
            <a:r>
              <a:rPr lang="en-PH" sz="2400" b="1" dirty="0"/>
              <a:t>ABET Code of Ethics (Suggested Guidelines d): </a:t>
            </a:r>
            <a:r>
              <a:rPr lang="en-PH" sz="2400" dirty="0"/>
              <a:t>"If Engineers have knowledge or reason to believe that another person or firm may be in violation of any of the provisions of the Guidelines, they shall present such information to the proper authority in writing..."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FAC37EB-122E-8FB0-F5D7-06EF2D935901}"/>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3FAC37EB-122E-8FB0-F5D7-06EF2D93590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E47FB35-0948-E3F3-3A1A-5545872B0DC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9E47FB35-0948-E3F3-3A1A-5545872B0DC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756329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49FA-9E15-82D8-C679-A4AAFB4C8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33A42-2BFC-662D-65BB-35157D2F5A1F}"/>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49CD460-BF9F-D639-4186-0AC46E92F933}"/>
              </a:ext>
            </a:extLst>
          </p:cNvPr>
          <p:cNvSpPr>
            <a:spLocks noGrp="1"/>
          </p:cNvSpPr>
          <p:nvPr>
            <p:ph idx="1"/>
          </p:nvPr>
        </p:nvSpPr>
        <p:spPr>
          <a:xfrm>
            <a:off x="426720" y="1915886"/>
            <a:ext cx="11521440" cy="4458787"/>
          </a:xfrm>
        </p:spPr>
        <p:txBody>
          <a:bodyPr>
            <a:normAutofit fontScale="92500" lnSpcReduction="20000"/>
          </a:bodyPr>
          <a:lstStyle/>
          <a:p>
            <a:pPr marL="0" indent="0">
              <a:buNone/>
            </a:pPr>
            <a:r>
              <a:rPr lang="en-PH" sz="3200" b="1" dirty="0"/>
              <a:t>The Professional Judgment </a:t>
            </a:r>
          </a:p>
          <a:p>
            <a:pPr marL="0" indent="0">
              <a:buNone/>
            </a:pPr>
            <a:r>
              <a:rPr lang="en-PH" sz="3200" dirty="0"/>
              <a:t>The strict constraint here is that an engineer cannot simply walk away from corruption, even when fighting it feels like a hopeless, David-versus-Goliath battle against a billionaire's empire. Your signature is your liability. Doing uncredited work makes you a participant in their fraud. However, silently escaping the plant without reporting the perpetrators to the Vice President violates NSPE Rule II.1.f. True engineering ethics requires acting as a whistleblower to dismantle unethical systems, thereby protecting the public and future engineers from being broken by the same machine.</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5A1E50A-9F66-5F35-8C5C-DDA901BB57A8}"/>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AE9F8EB4-6806-45CF-0BA0-08F98791AF8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9248112-7800-679D-8AB6-E1E3FC35CF6B}"/>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3C367349-8A86-B690-A4A1-E0EE08E69868}"/>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624950483"/>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4F4D41-822D-40F2-A7AC-E4E6CB36CA7A}">
  <ds:schemaRefs>
    <ds:schemaRef ds:uri="http://purl.org/dc/dcmitype/"/>
    <ds:schemaRef ds:uri="http://schemas.microsoft.com/office/2006/metadata/properties"/>
    <ds:schemaRef ds:uri="http://schemas.microsoft.com/office/infopath/2007/PartnerControls"/>
    <ds:schemaRef ds:uri="http://www.w3.org/XML/1998/namespace"/>
    <ds:schemaRef ds:uri="71af3243-3dd4-4a8d-8c0d-dd76da1f02a5"/>
    <ds:schemaRef ds:uri="http://purl.org/dc/elements/1.1/"/>
    <ds:schemaRef ds:uri="http://schemas.microsoft.com/office/2006/documentManagement/types"/>
    <ds:schemaRef ds:uri="http://purl.org/dc/terms/"/>
    <ds:schemaRef ds:uri="http://schemas.openxmlformats.org/package/2006/metadata/core-properties"/>
    <ds:schemaRef ds:uri="230e9df3-be65-4c73-a93b-d1236ebd677e"/>
    <ds:schemaRef ds:uri="16c05727-aa75-4e4a-9b5f-8a80a1165891"/>
    <ds:schemaRef ds:uri="http://schemas.microsoft.com/sharepoint/v3"/>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{EDCC2E50-673F-4CBE-8601-0398BB606B68}TFf0a5ceae-4542-492d-822e-d65a94fb0e1e3b562c5a_win32-009a0557e699</Template>
  <TotalTime>826</TotalTime>
  <Words>1569</Words>
  <Application>Microsoft Office PowerPoint</Application>
  <PresentationFormat>Widescreen</PresentationFormat>
  <Paragraphs>61</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Bookman Old Style</vt:lpstr>
      <vt:lpstr>Calibri</vt:lpstr>
      <vt:lpstr>Franklin Gothic Book</vt:lpstr>
      <vt:lpstr>Wingdings</vt:lpstr>
      <vt:lpstr>Custom</vt:lpstr>
      <vt:lpstr>Recitation 3</vt:lpstr>
      <vt:lpstr>"This isn't about money. This is about right and wrong. I want them to admit that it was my invention."</vt:lpstr>
      <vt:lpstr>Question to the selected students:</vt:lpstr>
      <vt:lpstr>Question to the selected students:</vt:lpstr>
      <vt:lpstr>Question to the selected students:</vt:lpstr>
      <vt:lpstr>Question for the Rest of the Class :</vt:lpstr>
      <vt:lpstr>Question for the Rest of the Class :</vt:lpstr>
      <vt:lpstr>The Core Lesson</vt:lpstr>
      <vt:lpstr>The Core Lesson</vt:lpstr>
      <vt:lpstr>The Core Lesson</vt:lpstr>
      <vt:lpstr>The Core Lesson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Mikko De Torres</dc:creator>
  <cp:lastModifiedBy>Mikko De Torres</cp:lastModifiedBy>
  <cp:revision>10</cp:revision>
  <cp:lastPrinted>2026-06-19T23:14:53Z</cp:lastPrinted>
  <dcterms:created xsi:type="dcterms:W3CDTF">2026-06-18T04:49:44Z</dcterms:created>
  <dcterms:modified xsi:type="dcterms:W3CDTF">2026-07-04T02:44:16Z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
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notesSlides/notesSlide7.xml" ContentType="application/vnd.openxmlformats-officedocument.presentationml.notesSlide+xml"/>
  <Override PartName="/ppt/ink/ink3.xml" ContentType="application/inkml+xml"/>
  <Override PartName="/ppt/ink/ink4.xml" ContentType="application/inkml+xml"/>
  <Override PartName="/ppt/notesSlides/notesSlide8.xml" ContentType="application/vnd.openxmlformats-officedocument.presentationml.notesSlide+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notesMasterIdLst>
    <p:notesMasterId r:id="rId15"/>
  </p:notesMasterIdLst>
  <p:sldIdLst>
    <p:sldId id="257" r:id="rId5"/>
    <p:sldId id="258" r:id="rId6"/>
    <p:sldId id="259" r:id="rId7"/>
    <p:sldId id="261" r:id="rId8"/>
    <p:sldId id="260" r:id="rId9"/>
    <p:sldId id="262" r:id="rId10"/>
    <p:sldId id="263" r:id="rId11"/>
    <p:sldId id="264" r:id="rId12"/>
    <p:sldId id="265" r:id="rId13"/>
    <p:sldId id="266" r:id="rId14"/>
  </p:sldIdLst>
  <p:sldSz cx="12192000" cy="6858000"/>
  <p:notesSz cx="6888163" cy="100187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1" autoAdjust="0"/>
    <p:restoredTop sz="94613" autoAdjust="0"/>
  </p:normalViewPr>
  <p:slideViewPr>
    <p:cSldViewPr snapToGrid="0">
      <p:cViewPr varScale="1">
        <p:scale>
          <a:sx n="73" d="100"/>
          <a:sy n="73" d="100"/>
        </p:scale>
        <p:origin x="1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35.909"/>
    </inkml:context>
    <inkml:brush xml:id="br0">
      <inkml:brushProperty name="width" value="0.1" units="cm"/>
      <inkml:brushProperty name="height" value="0.1" units="cm"/>
      <inkml:brushProperty name="color" value="#008C3A"/>
    </inkml:brush>
  </inkml:definitions>
  <inkml:trace contextRef="#ctx0" brushRef="#br0">1 29 6553,'0'-5'0,"4"0"241,10-4-248,2-1 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41.038"/>
    </inkml:context>
    <inkml:brush xml:id="br0">
      <inkml:brushProperty name="width" value="0.1" units="cm"/>
      <inkml:brushProperty name="height" value="0.1" units="cm"/>
      <inkml:brushProperty name="color" value="#008C3A"/>
    </inkml:brush>
  </inkml:definitions>
  <inkml:trace contextRef="#ctx0" brushRef="#br0">1 0 6553,'8'0'481,"3"0"-481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35.909"/>
    </inkml:context>
    <inkml:brush xml:id="br0">
      <inkml:brushProperty name="width" value="0.1" units="cm"/>
      <inkml:brushProperty name="height" value="0.1" units="cm"/>
      <inkml:brushProperty name="color" value="#008C3A"/>
    </inkml:brush>
  </inkml:definitions>
  <inkml:trace contextRef="#ctx0" brushRef="#br0">1 29 6553,'0'-5'0,"4"0"241,10-4-248,2-1 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41.038"/>
    </inkml:context>
    <inkml:brush xml:id="br0">
      <inkml:brushProperty name="width" value="0.1" units="cm"/>
      <inkml:brushProperty name="height" value="0.1" units="cm"/>
      <inkml:brushProperty name="color" value="#008C3A"/>
    </inkml:brush>
  </inkml:definitions>
  <inkml:trace contextRef="#ctx0" brushRef="#br0">1 0 6553,'8'0'481,"3"0"-481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35.909"/>
    </inkml:context>
    <inkml:brush xml:id="br0">
      <inkml:brushProperty name="width" value="0.1" units="cm"/>
      <inkml:brushProperty name="height" value="0.1" units="cm"/>
      <inkml:brushProperty name="color" value="#008C3A"/>
    </inkml:brush>
  </inkml:definitions>
  <inkml:trace contextRef="#ctx0" brushRef="#br0">1 29 6553,'0'-5'0,"4"0"241,10-4-248,2-1 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41.038"/>
    </inkml:context>
    <inkml:brush xml:id="br0">
      <inkml:brushProperty name="width" value="0.1" units="cm"/>
      <inkml:brushProperty name="height" value="0.1" units="cm"/>
      <inkml:brushProperty name="color" value="#008C3A"/>
    </inkml:brush>
  </inkml:definitions>
  <inkml:trace contextRef="#ctx0" brushRef="#br0">1 0 6553,'8'0'481,"3"0"-481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2676"/>
          </a:xfrm>
          <a:prstGeom prst="rect">
            <a:avLst/>
          </a:prstGeom>
        </p:spPr>
        <p:txBody>
          <a:bodyPr vert="horz" lIns="96606" tIns="48303" rIns="96606" bIns="48303" rtlCol="0"/>
          <a:lstStyle>
            <a:lvl1pPr algn="l">
              <a:defRPr sz="1300"/>
            </a:lvl1pPr>
          </a:lstStyle>
          <a:p>
            <a:endParaRPr lang="en-PH"/>
          </a:p>
        </p:txBody>
      </p:sp>
      <p:sp>
        <p:nvSpPr>
          <p:cNvPr id="3" name="Date Placeholder 2"/>
          <p:cNvSpPr>
            <a:spLocks noGrp="1"/>
          </p:cNvSpPr>
          <p:nvPr>
            <p:ph type="dt" idx="1"/>
          </p:nvPr>
        </p:nvSpPr>
        <p:spPr>
          <a:xfrm>
            <a:off x="3901698" y="0"/>
            <a:ext cx="2984871" cy="502676"/>
          </a:xfrm>
          <a:prstGeom prst="rect">
            <a:avLst/>
          </a:prstGeom>
        </p:spPr>
        <p:txBody>
          <a:bodyPr vert="horz" lIns="96606" tIns="48303" rIns="96606" bIns="48303" rtlCol="0"/>
          <a:lstStyle>
            <a:lvl1pPr algn="r">
              <a:defRPr sz="1300"/>
            </a:lvl1pPr>
          </a:lstStyle>
          <a:p>
            <a:fld id="{53FA57CA-15DA-4E3C-8ACC-DFD5341A9866}" type="datetimeFigureOut">
              <a:rPr lang="en-PH" smtClean="0"/>
              <a:t>20/06/2026</a:t>
            </a:fld>
            <a:endParaRPr lang="en-PH"/>
          </a:p>
        </p:txBody>
      </p:sp>
      <p:sp>
        <p:nvSpPr>
          <p:cNvPr id="4" name="Slide Image Placeholder 3"/>
          <p:cNvSpPr>
            <a:spLocks noGrp="1" noRot="1" noChangeAspect="1"/>
          </p:cNvSpPr>
          <p:nvPr>
            <p:ph type="sldImg" idx="2"/>
          </p:nvPr>
        </p:nvSpPr>
        <p:spPr>
          <a:xfrm>
            <a:off x="439738" y="1252538"/>
            <a:ext cx="6008687" cy="3381375"/>
          </a:xfrm>
          <a:prstGeom prst="rect">
            <a:avLst/>
          </a:prstGeom>
          <a:noFill/>
          <a:ln w="12700">
            <a:solidFill>
              <a:prstClr val="black"/>
            </a:solidFill>
          </a:ln>
        </p:spPr>
        <p:txBody>
          <a:bodyPr vert="horz" lIns="96606" tIns="48303" rIns="96606" bIns="48303" rtlCol="0" anchor="ctr"/>
          <a:lstStyle/>
          <a:p>
            <a:endParaRPr lang="en-PH"/>
          </a:p>
        </p:txBody>
      </p:sp>
      <p:sp>
        <p:nvSpPr>
          <p:cNvPr id="5" name="Notes Placeholder 4"/>
          <p:cNvSpPr>
            <a:spLocks noGrp="1"/>
          </p:cNvSpPr>
          <p:nvPr>
            <p:ph type="body" sz="quarter" idx="3"/>
          </p:nvPr>
        </p:nvSpPr>
        <p:spPr>
          <a:xfrm>
            <a:off x="688817" y="4821506"/>
            <a:ext cx="5510530" cy="3944868"/>
          </a:xfrm>
          <a:prstGeom prst="rect">
            <a:avLst/>
          </a:prstGeom>
        </p:spPr>
        <p:txBody>
          <a:bodyPr vert="horz" lIns="96606" tIns="48303" rIns="96606" bIns="4830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9516039"/>
            <a:ext cx="2984871" cy="502674"/>
          </a:xfrm>
          <a:prstGeom prst="rect">
            <a:avLst/>
          </a:prstGeom>
        </p:spPr>
        <p:txBody>
          <a:bodyPr vert="horz" lIns="96606" tIns="48303" rIns="96606" bIns="48303" rtlCol="0" anchor="b"/>
          <a:lstStyle>
            <a:lvl1pPr algn="l">
              <a:defRPr sz="1300"/>
            </a:lvl1pPr>
          </a:lstStyle>
          <a:p>
            <a:endParaRPr lang="en-PH"/>
          </a:p>
        </p:txBody>
      </p:sp>
      <p:sp>
        <p:nvSpPr>
          <p:cNvPr id="7" name="Slide Number Placeholder 6"/>
          <p:cNvSpPr>
            <a:spLocks noGrp="1"/>
          </p:cNvSpPr>
          <p:nvPr>
            <p:ph type="sldNum" sz="quarter" idx="5"/>
          </p:nvPr>
        </p:nvSpPr>
        <p:spPr>
          <a:xfrm>
            <a:off x="3901698" y="9516039"/>
            <a:ext cx="2984871" cy="502674"/>
          </a:xfrm>
          <a:prstGeom prst="rect">
            <a:avLst/>
          </a:prstGeom>
        </p:spPr>
        <p:txBody>
          <a:bodyPr vert="horz" lIns="96606" tIns="48303" rIns="96606" bIns="48303" rtlCol="0" anchor="b"/>
          <a:lstStyle>
            <a:lvl1pPr algn="r">
              <a:defRPr sz="1300"/>
            </a:lvl1pPr>
          </a:lstStyle>
          <a:p>
            <a:fld id="{889AB216-703E-453B-8FEF-77A64385AA89}" type="slidenum">
              <a:rPr lang="en-PH" smtClean="0"/>
              <a:t>‹#›</a:t>
            </a:fld>
            <a:endParaRPr lang="en-PH"/>
          </a:p>
        </p:txBody>
      </p:sp>
    </p:spTree>
    <p:extLst>
      <p:ext uri="{BB962C8B-B14F-4D97-AF65-F5344CB8AC3E}">
        <p14:creationId xmlns:p14="http://schemas.microsoft.com/office/powerpoint/2010/main" val="240828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300" b="1" dirty="0"/>
              <a:t>Phase 1: The Dilemma (For the 8-10 Isolated Students)</a:t>
            </a:r>
          </a:p>
          <a:p>
            <a:r>
              <a:rPr lang="en-PH" sz="1300" dirty="0"/>
              <a:t>Take the 8 to 10 selected students outside or to the front of the room. They do not know the real ending. You will tell them the story framing </a:t>
            </a:r>
            <a:r>
              <a:rPr lang="en-PH" sz="1300" i="1" dirty="0"/>
              <a:t>them</a:t>
            </a:r>
            <a:r>
              <a:rPr lang="en-PH" sz="1300" dirty="0"/>
              <a:t> as the main character.</a:t>
            </a:r>
          </a:p>
          <a:p>
            <a:endParaRPr lang="en-PH" dirty="0"/>
          </a:p>
        </p:txBody>
      </p:sp>
      <p:sp>
        <p:nvSpPr>
          <p:cNvPr id="4" name="Slide Number Placeholder 3"/>
          <p:cNvSpPr>
            <a:spLocks noGrp="1"/>
          </p:cNvSpPr>
          <p:nvPr>
            <p:ph type="sldNum" sz="quarter" idx="5"/>
          </p:nvPr>
        </p:nvSpPr>
        <p:spPr/>
        <p:txBody>
          <a:bodyPr/>
          <a:lstStyle/>
          <a:p>
            <a:fld id="{889AB216-703E-453B-8FEF-77A64385AA89}" type="slidenum">
              <a:rPr lang="en-PH" smtClean="0"/>
              <a:t>3</a:t>
            </a:fld>
            <a:endParaRPr lang="en-PH"/>
          </a:p>
        </p:txBody>
      </p:sp>
    </p:spTree>
    <p:extLst>
      <p:ext uri="{BB962C8B-B14F-4D97-AF65-F5344CB8AC3E}">
        <p14:creationId xmlns:p14="http://schemas.microsoft.com/office/powerpoint/2010/main" val="2265015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064">
              <a:defRPr/>
            </a:pPr>
            <a:r>
              <a:rPr lang="en-PH" sz="1300" b="1" dirty="0"/>
              <a:t>The Questions for Group 1 (The Fresh Grad POV):</a:t>
            </a:r>
            <a:r>
              <a:rPr lang="en-PH" sz="1300" dirty="0"/>
              <a:t> You must force them to choose one of these three options and defend it:</a:t>
            </a:r>
          </a:p>
          <a:p>
            <a:endParaRPr lang="en-PH" dirty="0"/>
          </a:p>
        </p:txBody>
      </p:sp>
      <p:sp>
        <p:nvSpPr>
          <p:cNvPr id="4" name="Slide Number Placeholder 3"/>
          <p:cNvSpPr>
            <a:spLocks noGrp="1"/>
          </p:cNvSpPr>
          <p:nvPr>
            <p:ph type="sldNum" sz="quarter" idx="5"/>
          </p:nvPr>
        </p:nvSpPr>
        <p:spPr/>
        <p:txBody>
          <a:bodyPr/>
          <a:lstStyle/>
          <a:p>
            <a:fld id="{889AB216-703E-453B-8FEF-77A64385AA89}" type="slidenum">
              <a:rPr lang="en-PH" smtClean="0"/>
              <a:t>4</a:t>
            </a:fld>
            <a:endParaRPr lang="en-PH"/>
          </a:p>
        </p:txBody>
      </p:sp>
    </p:spTree>
    <p:extLst>
      <p:ext uri="{BB962C8B-B14F-4D97-AF65-F5344CB8AC3E}">
        <p14:creationId xmlns:p14="http://schemas.microsoft.com/office/powerpoint/2010/main" val="2445367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While the isolated students are deciding their answers, you will speak to the rest of the class. You will reveal the real-world outcome and assign them their "Authority" roles.</a:t>
            </a:r>
          </a:p>
        </p:txBody>
      </p:sp>
      <p:sp>
        <p:nvSpPr>
          <p:cNvPr id="4" name="Slide Number Placeholder 3"/>
          <p:cNvSpPr>
            <a:spLocks noGrp="1"/>
          </p:cNvSpPr>
          <p:nvPr>
            <p:ph type="sldNum" sz="quarter" idx="5"/>
          </p:nvPr>
        </p:nvSpPr>
        <p:spPr/>
        <p:txBody>
          <a:bodyPr/>
          <a:lstStyle/>
          <a:p>
            <a:fld id="{889AB216-703E-453B-8FEF-77A64385AA89}" type="slidenum">
              <a:rPr lang="en-PH" smtClean="0"/>
              <a:t>5</a:t>
            </a:fld>
            <a:endParaRPr lang="en-PH"/>
          </a:p>
        </p:txBody>
      </p:sp>
    </p:spTree>
    <p:extLst>
      <p:ext uri="{BB962C8B-B14F-4D97-AF65-F5344CB8AC3E}">
        <p14:creationId xmlns:p14="http://schemas.microsoft.com/office/powerpoint/2010/main" val="1343563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2380D-C4DA-69CD-0E03-EFE8356BF2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BA23E-006A-7AB8-C2A9-E3D5E7DB6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51853D-F275-8867-80CB-7271904A0AE9}"/>
              </a:ext>
            </a:extLst>
          </p:cNvPr>
          <p:cNvSpPr>
            <a:spLocks noGrp="1"/>
          </p:cNvSpPr>
          <p:nvPr>
            <p:ph type="body" idx="1"/>
          </p:nvPr>
        </p:nvSpPr>
        <p:spPr/>
        <p:txBody>
          <a:bodyPr/>
          <a:lstStyle/>
          <a:p>
            <a:r>
              <a:rPr lang="en-PH" b="1" dirty="0"/>
              <a:t>The Questions for Group 2 (The Authority POV):</a:t>
            </a:r>
            <a:r>
              <a:rPr lang="en-PH" dirty="0"/>
              <a:t> Assign the remaining students into three groups. When the isolated students come back and give their answers, these "Authorities" will judge them.</a:t>
            </a:r>
          </a:p>
        </p:txBody>
      </p:sp>
      <p:sp>
        <p:nvSpPr>
          <p:cNvPr id="4" name="Slide Number Placeholder 3">
            <a:extLst>
              <a:ext uri="{FF2B5EF4-FFF2-40B4-BE49-F238E27FC236}">
                <a16:creationId xmlns:a16="http://schemas.microsoft.com/office/drawing/2014/main" id="{5A295B3E-C787-9C9E-9E35-EEAB5C700533}"/>
              </a:ext>
            </a:extLst>
          </p:cNvPr>
          <p:cNvSpPr>
            <a:spLocks noGrp="1"/>
          </p:cNvSpPr>
          <p:nvPr>
            <p:ph type="sldNum" sz="quarter" idx="5"/>
          </p:nvPr>
        </p:nvSpPr>
        <p:spPr/>
        <p:txBody>
          <a:bodyPr/>
          <a:lstStyle/>
          <a:p>
            <a:fld id="{889AB216-703E-453B-8FEF-77A64385AA89}" type="slidenum">
              <a:rPr lang="en-PH" smtClean="0"/>
              <a:t>6</a:t>
            </a:fld>
            <a:endParaRPr lang="en-PH"/>
          </a:p>
        </p:txBody>
      </p:sp>
    </p:spTree>
    <p:extLst>
      <p:ext uri="{BB962C8B-B14F-4D97-AF65-F5344CB8AC3E}">
        <p14:creationId xmlns:p14="http://schemas.microsoft.com/office/powerpoint/2010/main" val="398168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By bringing your own industry experience into the classroom, you are showing them that real-world engineering is never just a "yes or no" decision—it is about how you navigate the gray areas.</a:t>
            </a:r>
          </a:p>
        </p:txBody>
      </p:sp>
      <p:sp>
        <p:nvSpPr>
          <p:cNvPr id="4" name="Slide Number Placeholder 3"/>
          <p:cNvSpPr>
            <a:spLocks noGrp="1"/>
          </p:cNvSpPr>
          <p:nvPr>
            <p:ph type="sldNum" sz="quarter" idx="5"/>
          </p:nvPr>
        </p:nvSpPr>
        <p:spPr/>
        <p:txBody>
          <a:bodyPr/>
          <a:lstStyle/>
          <a:p>
            <a:fld id="{889AB216-703E-453B-8FEF-77A64385AA89}" type="slidenum">
              <a:rPr lang="en-PH" smtClean="0"/>
              <a:t>7</a:t>
            </a:fld>
            <a:endParaRPr lang="en-PH"/>
          </a:p>
        </p:txBody>
      </p:sp>
    </p:spTree>
    <p:extLst>
      <p:ext uri="{BB962C8B-B14F-4D97-AF65-F5344CB8AC3E}">
        <p14:creationId xmlns:p14="http://schemas.microsoft.com/office/powerpoint/2010/main" val="3312130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99DFC-F086-898C-9980-521B473F1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30CFB-5DBD-B173-8634-65EA005290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E040C-63C6-32D0-7395-73EA1FA5027F}"/>
              </a:ext>
            </a:extLst>
          </p:cNvPr>
          <p:cNvSpPr>
            <a:spLocks noGrp="1"/>
          </p:cNvSpPr>
          <p:nvPr>
            <p:ph type="body" idx="1"/>
          </p:nvPr>
        </p:nvSpPr>
        <p:spPr/>
        <p:txBody>
          <a:bodyPr/>
          <a:lstStyle/>
          <a:p>
            <a:r>
              <a:rPr lang="en-PH" dirty="0"/>
              <a:t>By bringing your own industry experience into the classroom, you are showing them that real-world engineering is never just a "yes or no" decision—it is about how you navigate the gray areas.</a:t>
            </a:r>
          </a:p>
        </p:txBody>
      </p:sp>
      <p:sp>
        <p:nvSpPr>
          <p:cNvPr id="4" name="Slide Number Placeholder 3">
            <a:extLst>
              <a:ext uri="{FF2B5EF4-FFF2-40B4-BE49-F238E27FC236}">
                <a16:creationId xmlns:a16="http://schemas.microsoft.com/office/drawing/2014/main" id="{DE526BC0-095B-10EF-54E6-552D1C57566A}"/>
              </a:ext>
            </a:extLst>
          </p:cNvPr>
          <p:cNvSpPr>
            <a:spLocks noGrp="1"/>
          </p:cNvSpPr>
          <p:nvPr>
            <p:ph type="sldNum" sz="quarter" idx="5"/>
          </p:nvPr>
        </p:nvSpPr>
        <p:spPr/>
        <p:txBody>
          <a:bodyPr/>
          <a:lstStyle/>
          <a:p>
            <a:fld id="{889AB216-703E-453B-8FEF-77A64385AA89}" type="slidenum">
              <a:rPr lang="en-PH" smtClean="0"/>
              <a:t>8</a:t>
            </a:fld>
            <a:endParaRPr lang="en-PH"/>
          </a:p>
        </p:txBody>
      </p:sp>
    </p:spTree>
    <p:extLst>
      <p:ext uri="{BB962C8B-B14F-4D97-AF65-F5344CB8AC3E}">
        <p14:creationId xmlns:p14="http://schemas.microsoft.com/office/powerpoint/2010/main" val="1270116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E6D6A-EEEC-0629-70EF-BA1961C546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372F17-83F0-1D42-E94C-6F594AA5D4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6ACCFA-4A2D-349D-C399-2B8FE34AE391}"/>
              </a:ext>
            </a:extLst>
          </p:cNvPr>
          <p:cNvSpPr>
            <a:spLocks noGrp="1"/>
          </p:cNvSpPr>
          <p:nvPr>
            <p:ph type="body" idx="1"/>
          </p:nvPr>
        </p:nvSpPr>
        <p:spPr/>
        <p:txBody>
          <a:bodyPr/>
          <a:lstStyle/>
          <a:p>
            <a:r>
              <a:rPr lang="en-PH" dirty="0"/>
              <a:t>By bringing your own industry experience into the classroom, you are showing them that real-world engineering is never just a "yes or no" decision—it is about how you navigate the gray areas.</a:t>
            </a:r>
          </a:p>
        </p:txBody>
      </p:sp>
      <p:sp>
        <p:nvSpPr>
          <p:cNvPr id="4" name="Slide Number Placeholder 3">
            <a:extLst>
              <a:ext uri="{FF2B5EF4-FFF2-40B4-BE49-F238E27FC236}">
                <a16:creationId xmlns:a16="http://schemas.microsoft.com/office/drawing/2014/main" id="{E7AB31BA-B23E-C1AC-0043-E008AF52D730}"/>
              </a:ext>
            </a:extLst>
          </p:cNvPr>
          <p:cNvSpPr>
            <a:spLocks noGrp="1"/>
          </p:cNvSpPr>
          <p:nvPr>
            <p:ph type="sldNum" sz="quarter" idx="5"/>
          </p:nvPr>
        </p:nvSpPr>
        <p:spPr/>
        <p:txBody>
          <a:bodyPr/>
          <a:lstStyle/>
          <a:p>
            <a:fld id="{889AB216-703E-453B-8FEF-77A64385AA89}" type="slidenum">
              <a:rPr lang="en-PH" smtClean="0"/>
              <a:t>9</a:t>
            </a:fld>
            <a:endParaRPr lang="en-PH"/>
          </a:p>
        </p:txBody>
      </p:sp>
    </p:spTree>
    <p:extLst>
      <p:ext uri="{BB962C8B-B14F-4D97-AF65-F5344CB8AC3E}">
        <p14:creationId xmlns:p14="http://schemas.microsoft.com/office/powerpoint/2010/main" val="18971542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2AECC-B087-25BF-354C-5B3964A614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36187-6D9E-8089-34F8-A00D12DC78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1C686C-F55F-1566-1286-BD3138AEDD18}"/>
              </a:ext>
            </a:extLst>
          </p:cNvPr>
          <p:cNvSpPr>
            <a:spLocks noGrp="1"/>
          </p:cNvSpPr>
          <p:nvPr>
            <p:ph type="body" idx="1"/>
          </p:nvPr>
        </p:nvSpPr>
        <p:spPr/>
        <p:txBody>
          <a:bodyPr/>
          <a:lstStyle/>
          <a:p>
            <a:r>
              <a:rPr lang="en-PH" dirty="0"/>
              <a:t>By bringing your own industry experience into the classroom, you are showing them that real-world engineering is never just a "yes or no" decision—it is about how you navigate the gray areas.</a:t>
            </a:r>
          </a:p>
        </p:txBody>
      </p:sp>
      <p:sp>
        <p:nvSpPr>
          <p:cNvPr id="4" name="Slide Number Placeholder 3">
            <a:extLst>
              <a:ext uri="{FF2B5EF4-FFF2-40B4-BE49-F238E27FC236}">
                <a16:creationId xmlns:a16="http://schemas.microsoft.com/office/drawing/2014/main" id="{94F9897E-5BE4-1ECB-316E-258F04D10712}"/>
              </a:ext>
            </a:extLst>
          </p:cNvPr>
          <p:cNvSpPr>
            <a:spLocks noGrp="1"/>
          </p:cNvSpPr>
          <p:nvPr>
            <p:ph type="sldNum" sz="quarter" idx="5"/>
          </p:nvPr>
        </p:nvSpPr>
        <p:spPr/>
        <p:txBody>
          <a:bodyPr/>
          <a:lstStyle/>
          <a:p>
            <a:fld id="{889AB216-703E-453B-8FEF-77A64385AA89}" type="slidenum">
              <a:rPr lang="en-PH" smtClean="0"/>
              <a:t>10</a:t>
            </a:fld>
            <a:endParaRPr lang="en-PH"/>
          </a:p>
        </p:txBody>
      </p:sp>
    </p:spTree>
    <p:extLst>
      <p:ext uri="{BB962C8B-B14F-4D97-AF65-F5344CB8AC3E}">
        <p14:creationId xmlns:p14="http://schemas.microsoft.com/office/powerpoint/2010/main" val="554677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6/20/2026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6/20/2026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6/20/2026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6/20/2026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6/20/2026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6/20/2026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6/20/2026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6/20/2026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6/20/2026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6/20/2026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6/20/2026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6/20/2026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4.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6.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sz="8000" dirty="0"/>
              <a:t>Recitation 1</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sz="2400" dirty="0" err="1">
                <a:solidFill>
                  <a:schemeClr val="tx1">
                    <a:lumMod val="85000"/>
                    <a:lumOff val="15000"/>
                  </a:schemeClr>
                </a:solidFill>
              </a:rPr>
              <a:t>Mexe</a:t>
            </a:r>
            <a:r>
              <a:rPr lang="en-US" dirty="0">
                <a:solidFill>
                  <a:schemeClr val="tx1">
                    <a:lumMod val="85000"/>
                    <a:lumOff val="15000"/>
                  </a:schemeClr>
                </a:solidFill>
              </a:rPr>
              <a:t> 410: Codes, Standards and Professional Ethics for </a:t>
            </a:r>
            <a:r>
              <a:rPr lang="en-US" dirty="0" err="1">
                <a:solidFill>
                  <a:schemeClr val="tx1">
                    <a:lumMod val="85000"/>
                    <a:lumOff val="15000"/>
                  </a:schemeClr>
                </a:solidFill>
              </a:rPr>
              <a:t>MExE</a:t>
            </a:r>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0"/>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fontScale="90000"/>
          </a:bodyPr>
          <a:lstStyle/>
          <a:p>
            <a:pPr lvl="0" algn="just"/>
            <a:r>
              <a:rPr lang="en-PH" dirty="0">
                <a:latin typeface="Calibri" panose="020F0502020204030204" pitchFamily="34" charset="0"/>
                <a:cs typeface="Calibri" panose="020F0502020204030204" pitchFamily="34" charset="0"/>
              </a:rPr>
              <a:t>"Engineering is a universal language, but technical documentation is not."</a:t>
            </a:r>
            <a:endParaRPr lang="en-US" sz="4800" i="1" dirty="0">
              <a:solidFill>
                <a:srgbClr val="FFFFFF"/>
              </a:solidFill>
              <a:latin typeface="Calibri" panose="020F0502020204030204" pitchFamily="34" charset="0"/>
              <a:cs typeface="Calibri" panose="020F0502020204030204" pitchFamily="34" charset="0"/>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1100051" y="5225240"/>
            <a:ext cx="10058400" cy="1143000"/>
          </a:xfrm>
        </p:spPr>
        <p:txBody>
          <a:bodyPr>
            <a:normAutofit fontScale="92500" lnSpcReduction="10000"/>
          </a:bodyPr>
          <a:lstStyle/>
          <a:p>
            <a:r>
              <a:rPr lang="en-PH" dirty="0">
                <a:solidFill>
                  <a:schemeClr val="bg1"/>
                </a:solidFill>
                <a:latin typeface="Calibri" panose="020F0502020204030204" pitchFamily="34" charset="0"/>
                <a:cs typeface="Calibri" panose="020F0502020204030204" pitchFamily="34" charset="0"/>
              </a:rPr>
              <a:t>— </a:t>
            </a:r>
            <a:r>
              <a:rPr lang="en-PH" dirty="0" err="1">
                <a:solidFill>
                  <a:schemeClr val="bg1"/>
                </a:solidFill>
                <a:latin typeface="Calibri" panose="020F0502020204030204" pitchFamily="34" charset="0"/>
                <a:cs typeface="Calibri" panose="020F0502020204030204" pitchFamily="34" charset="0"/>
              </a:rPr>
              <a:t>Novatia</a:t>
            </a:r>
            <a:r>
              <a:rPr lang="en-PH" dirty="0">
                <a:solidFill>
                  <a:schemeClr val="bg1"/>
                </a:solidFill>
                <a:latin typeface="Calibri" panose="020F0502020204030204" pitchFamily="34" charset="0"/>
                <a:cs typeface="Calibri" panose="020F0502020204030204" pitchFamily="34" charset="0"/>
              </a:rPr>
              <a:t> Translations Limited (A technical translation service specializing in engineering manuals, CAD drawings, and safety protocols)[cite: 2.4.1]." </a:t>
            </a:r>
          </a:p>
          <a:p>
            <a:endParaRPr lang="en-US"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70373-A383-48A8-587E-6C8659D34A14}"/>
              </a:ext>
            </a:extLst>
          </p:cNvPr>
          <p:cNvSpPr>
            <a:spLocks noGrp="1"/>
          </p:cNvSpPr>
          <p:nvPr>
            <p:ph type="title"/>
          </p:nvPr>
        </p:nvSpPr>
        <p:spPr/>
        <p:txBody>
          <a:bodyPr anchor="ctr">
            <a:normAutofit/>
          </a:bodyPr>
          <a:lstStyle/>
          <a:p>
            <a:pPr algn="ctr"/>
            <a:r>
              <a:rPr lang="en-US" sz="4400" dirty="0"/>
              <a:t>Question to the selected students:</a:t>
            </a:r>
            <a:endParaRPr lang="en-PH" sz="4400" dirty="0"/>
          </a:p>
        </p:txBody>
      </p:sp>
      <p:sp>
        <p:nvSpPr>
          <p:cNvPr id="3" name="Content Placeholder 2">
            <a:extLst>
              <a:ext uri="{FF2B5EF4-FFF2-40B4-BE49-F238E27FC236}">
                <a16:creationId xmlns:a16="http://schemas.microsoft.com/office/drawing/2014/main" id="{5E5CBB8D-39E7-E4A8-C8C9-A3B176447672}"/>
              </a:ext>
            </a:extLst>
          </p:cNvPr>
          <p:cNvSpPr>
            <a:spLocks noGrp="1"/>
          </p:cNvSpPr>
          <p:nvPr>
            <p:ph idx="1"/>
          </p:nvPr>
        </p:nvSpPr>
        <p:spPr>
          <a:xfrm>
            <a:off x="825548" y="1932316"/>
            <a:ext cx="10601864" cy="4373593"/>
          </a:xfrm>
        </p:spPr>
        <p:txBody>
          <a:bodyPr>
            <a:noAutofit/>
          </a:bodyPr>
          <a:lstStyle/>
          <a:p>
            <a:pPr algn="just"/>
            <a:r>
              <a:rPr lang="en-PH" sz="2400" b="1" dirty="0"/>
              <a:t>The Story:</a:t>
            </a:r>
            <a:endParaRPr lang="en-PH" sz="2400" dirty="0"/>
          </a:p>
          <a:p>
            <a:pPr algn="just"/>
            <a:r>
              <a:rPr lang="en-PH" sz="2400" dirty="0"/>
              <a:t>"Imagine you are a fresh Electronics Engineering graduate. You just landed your very first job. As a welcome investment, your company pays for you to take formal Nihongo (Japanese) language training. It is completely free.</a:t>
            </a:r>
          </a:p>
          <a:p>
            <a:pPr algn="just"/>
            <a:r>
              <a:rPr lang="en-PH" sz="2400" dirty="0"/>
              <a:t>However, your manager gives you your very first official task: you must translate a highly complex Japanese machine instruction manual into English. You will be fully paid for this extra work. But when you look at the manual, it is incredibly difficult, highly technical, and overwhelming for a fresh graduate. The pressure is on."</a:t>
            </a:r>
          </a:p>
          <a:p>
            <a:pPr algn="just"/>
            <a:endParaRPr lang="en-PH" sz="2400" dirty="0"/>
          </a:p>
        </p:txBody>
      </p:sp>
    </p:spTree>
    <p:extLst>
      <p:ext uri="{BB962C8B-B14F-4D97-AF65-F5344CB8AC3E}">
        <p14:creationId xmlns:p14="http://schemas.microsoft.com/office/powerpoint/2010/main" val="3262463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EFB01-55F6-44F3-65A5-1ED742AE73F7}"/>
              </a:ext>
            </a:extLst>
          </p:cNvPr>
          <p:cNvSpPr>
            <a:spLocks noGrp="1"/>
          </p:cNvSpPr>
          <p:nvPr>
            <p:ph type="title"/>
          </p:nvPr>
        </p:nvSpPr>
        <p:spPr/>
        <p:txBody>
          <a:bodyPr anchor="ctr">
            <a:normAutofit/>
          </a:bodyPr>
          <a:lstStyle/>
          <a:p>
            <a:pPr algn="ctr"/>
            <a:r>
              <a:rPr lang="en-US" sz="4400" dirty="0"/>
              <a:t>Question to the selected students:</a:t>
            </a:r>
            <a:endParaRPr lang="en-PH" sz="4400" dirty="0"/>
          </a:p>
        </p:txBody>
      </p:sp>
      <p:sp>
        <p:nvSpPr>
          <p:cNvPr id="3" name="Content Placeholder 2">
            <a:extLst>
              <a:ext uri="{FF2B5EF4-FFF2-40B4-BE49-F238E27FC236}">
                <a16:creationId xmlns:a16="http://schemas.microsoft.com/office/drawing/2014/main" id="{8919335E-3B3A-08CE-E21A-E3CF8C40F316}"/>
              </a:ext>
            </a:extLst>
          </p:cNvPr>
          <p:cNvSpPr>
            <a:spLocks noGrp="1"/>
          </p:cNvSpPr>
          <p:nvPr>
            <p:ph idx="1"/>
          </p:nvPr>
        </p:nvSpPr>
        <p:spPr/>
        <p:txBody>
          <a:bodyPr anchor="ctr">
            <a:normAutofit/>
          </a:bodyPr>
          <a:lstStyle/>
          <a:p>
            <a:r>
              <a:rPr lang="en-PH" sz="2800" b="1" dirty="0"/>
              <a:t>Will you do the task?</a:t>
            </a:r>
            <a:r>
              <a:rPr lang="en-PH" sz="2800" dirty="0"/>
              <a:t> (If yes, why? How will you handle the risk of translating a technical manual wrong?)</a:t>
            </a:r>
          </a:p>
          <a:p>
            <a:r>
              <a:rPr lang="en-PH" sz="2800" b="1" dirty="0"/>
              <a:t>Will you refuse the task?</a:t>
            </a:r>
            <a:r>
              <a:rPr lang="en-PH" sz="2800" dirty="0"/>
              <a:t> (If no, why? How will you justify refusing your first assignment after they paid for your training?)</a:t>
            </a:r>
          </a:p>
          <a:p>
            <a:r>
              <a:rPr lang="en-PH" sz="2800" b="1" dirty="0"/>
              <a:t>Will you choose not to answer?</a:t>
            </a:r>
            <a:r>
              <a:rPr lang="en-PH" sz="2800" dirty="0"/>
              <a:t> (If you stay silent, why are you avoiding the decision?)</a:t>
            </a:r>
          </a:p>
          <a:p>
            <a:endParaRPr lang="en-PH" dirty="0"/>
          </a:p>
        </p:txBody>
      </p:sp>
    </p:spTree>
    <p:extLst>
      <p:ext uri="{BB962C8B-B14F-4D97-AF65-F5344CB8AC3E}">
        <p14:creationId xmlns:p14="http://schemas.microsoft.com/office/powerpoint/2010/main" val="2918232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07BAC-524E-84F9-FB26-DD53D8E0D5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EC631-94DB-43F4-D7AE-15E8914A6110}"/>
              </a:ext>
            </a:extLst>
          </p:cNvPr>
          <p:cNvSpPr>
            <a:spLocks noGrp="1"/>
          </p:cNvSpPr>
          <p:nvPr>
            <p:ph type="title"/>
          </p:nvPr>
        </p:nvSpPr>
        <p:spPr>
          <a:xfrm>
            <a:off x="914400" y="286603"/>
            <a:ext cx="10241280" cy="1450757"/>
          </a:xfrm>
        </p:spPr>
        <p:txBody>
          <a:bodyPr anchor="ctr"/>
          <a:lstStyle/>
          <a:p>
            <a:pPr algn="ctr"/>
            <a:r>
              <a:rPr lang="en-US" dirty="0"/>
              <a:t>Question </a:t>
            </a:r>
            <a:r>
              <a:rPr lang="en-PH" dirty="0"/>
              <a:t>for the Rest of the Class </a:t>
            </a:r>
            <a:r>
              <a:rPr lang="en-US" dirty="0"/>
              <a:t>:</a:t>
            </a:r>
            <a:endParaRPr lang="en-PH" dirty="0"/>
          </a:p>
        </p:txBody>
      </p:sp>
      <p:sp>
        <p:nvSpPr>
          <p:cNvPr id="3" name="Content Placeholder 2">
            <a:extLst>
              <a:ext uri="{FF2B5EF4-FFF2-40B4-BE49-F238E27FC236}">
                <a16:creationId xmlns:a16="http://schemas.microsoft.com/office/drawing/2014/main" id="{740F0400-382F-A8A2-C600-536DC35FE465}"/>
              </a:ext>
            </a:extLst>
          </p:cNvPr>
          <p:cNvSpPr>
            <a:spLocks noGrp="1"/>
          </p:cNvSpPr>
          <p:nvPr>
            <p:ph idx="1"/>
          </p:nvPr>
        </p:nvSpPr>
        <p:spPr/>
        <p:txBody>
          <a:bodyPr>
            <a:normAutofit lnSpcReduction="10000"/>
          </a:bodyPr>
          <a:lstStyle/>
          <a:p>
            <a:pPr algn="just"/>
            <a:r>
              <a:rPr lang="en-PH" sz="3200" dirty="0"/>
              <a:t>"Here is what actually happened to my former co-worker. He was a fresh graduate who accepted the free Nihongo training. But when he saw how difficult the translation task was, he gave up. Even though he was going to be fully compensated, he hated how hard the job was, and he immediately resigned. The company lost their investment in him, and the manual was left untranslated."</a:t>
            </a:r>
          </a:p>
        </p:txBody>
      </p:sp>
    </p:spTree>
    <p:extLst>
      <p:ext uri="{BB962C8B-B14F-4D97-AF65-F5344CB8AC3E}">
        <p14:creationId xmlns:p14="http://schemas.microsoft.com/office/powerpoint/2010/main" val="3130924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6A573-A75B-273E-1A3F-41E852B85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57764-5E52-0747-8AFD-B4D9D5B45F66}"/>
              </a:ext>
            </a:extLst>
          </p:cNvPr>
          <p:cNvSpPr>
            <a:spLocks noGrp="1"/>
          </p:cNvSpPr>
          <p:nvPr>
            <p:ph type="title"/>
          </p:nvPr>
        </p:nvSpPr>
        <p:spPr>
          <a:xfrm>
            <a:off x="914400" y="286603"/>
            <a:ext cx="10241280" cy="1450757"/>
          </a:xfrm>
        </p:spPr>
        <p:txBody>
          <a:bodyPr anchor="ctr"/>
          <a:lstStyle/>
          <a:p>
            <a:pPr algn="ctr"/>
            <a:r>
              <a:rPr lang="en-US" dirty="0"/>
              <a:t>Question </a:t>
            </a:r>
            <a:r>
              <a:rPr lang="en-PH" dirty="0"/>
              <a:t>for the Rest of the Class </a:t>
            </a:r>
            <a:r>
              <a:rPr lang="en-US" dirty="0"/>
              <a:t>:</a:t>
            </a:r>
            <a:endParaRPr lang="en-PH" dirty="0"/>
          </a:p>
        </p:txBody>
      </p:sp>
      <p:sp>
        <p:nvSpPr>
          <p:cNvPr id="3" name="Content Placeholder 2">
            <a:extLst>
              <a:ext uri="{FF2B5EF4-FFF2-40B4-BE49-F238E27FC236}">
                <a16:creationId xmlns:a16="http://schemas.microsoft.com/office/drawing/2014/main" id="{9CE0D318-D7D2-4571-091D-0961DCBC6FE4}"/>
              </a:ext>
            </a:extLst>
          </p:cNvPr>
          <p:cNvSpPr>
            <a:spLocks noGrp="1"/>
          </p:cNvSpPr>
          <p:nvPr>
            <p:ph idx="1"/>
          </p:nvPr>
        </p:nvSpPr>
        <p:spPr>
          <a:xfrm>
            <a:off x="1097280" y="1872343"/>
            <a:ext cx="10058400" cy="4572000"/>
          </a:xfrm>
        </p:spPr>
        <p:txBody>
          <a:bodyPr>
            <a:normAutofit fontScale="85000" lnSpcReduction="10000"/>
          </a:bodyPr>
          <a:lstStyle/>
          <a:p>
            <a:pPr algn="just"/>
            <a:r>
              <a:rPr lang="en-PH" sz="2400" b="1" dirty="0"/>
              <a:t>POV 1: The Manager.</a:t>
            </a:r>
            <a:endParaRPr lang="en-PH" sz="2400" dirty="0"/>
          </a:p>
          <a:p>
            <a:pPr algn="just"/>
            <a:r>
              <a:rPr lang="en-PH" sz="2400" i="1" dirty="0"/>
              <a:t>Question:</a:t>
            </a:r>
            <a:r>
              <a:rPr lang="en-PH" sz="2400" dirty="0"/>
              <a:t> As the manager who paid for this engineer's training, how do you react to his resignation? Is it a breach of a professional contract, or are you at fault for giving a fresh graduate a task that was too difficult?</a:t>
            </a:r>
          </a:p>
          <a:p>
            <a:pPr algn="just"/>
            <a:r>
              <a:rPr lang="en-PH" sz="2400" b="1" dirty="0"/>
              <a:t>POV 2: The Former Professor.</a:t>
            </a:r>
            <a:endParaRPr lang="en-PH" sz="2400" dirty="0"/>
          </a:p>
          <a:p>
            <a:pPr algn="just"/>
            <a:r>
              <a:rPr lang="en-PH" sz="2400" i="1" dirty="0"/>
              <a:t>Question:</a:t>
            </a:r>
            <a:r>
              <a:rPr lang="en-PH" sz="2400" dirty="0"/>
              <a:t> As the professor who taught this student, how do you feel about his resilience? Did the university fail to prepare him for the difficulty of real-world engineering tasks?</a:t>
            </a:r>
          </a:p>
          <a:p>
            <a:pPr algn="just"/>
            <a:r>
              <a:rPr lang="en-PH" sz="2400" b="1" dirty="0"/>
              <a:t>POV 3: The Professional Mechatronics Engineer.</a:t>
            </a:r>
            <a:endParaRPr lang="en-PH" sz="2400" dirty="0"/>
          </a:p>
          <a:p>
            <a:pPr algn="just"/>
            <a:r>
              <a:rPr lang="en-PH" sz="2400" i="1" dirty="0"/>
              <a:t>Question:</a:t>
            </a:r>
            <a:r>
              <a:rPr lang="en-PH" sz="2400" dirty="0"/>
              <a:t> Look at this through the NSPE Code of Ethics. Engineers should only undertake assignments they are qualified for. Was the fresh graduate actually doing the </a:t>
            </a:r>
            <a:r>
              <a:rPr lang="en-PH" sz="2400" i="1" dirty="0"/>
              <a:t>ethical</a:t>
            </a:r>
            <a:r>
              <a:rPr lang="en-PH" sz="2400" dirty="0"/>
              <a:t> thing by resigning, preventing a dangerous mistranslation of a machine manual?</a:t>
            </a:r>
          </a:p>
        </p:txBody>
      </p:sp>
    </p:spTree>
    <p:extLst>
      <p:ext uri="{BB962C8B-B14F-4D97-AF65-F5344CB8AC3E}">
        <p14:creationId xmlns:p14="http://schemas.microsoft.com/office/powerpoint/2010/main" val="3993865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51CD7-6840-12B1-E3EE-EC91300A79DB}"/>
              </a:ext>
            </a:extLst>
          </p:cNvPr>
          <p:cNvSpPr>
            <a:spLocks noGrp="1"/>
          </p:cNvSpPr>
          <p:nvPr>
            <p:ph type="title"/>
          </p:nvPr>
        </p:nvSpPr>
        <p:spPr/>
        <p:txBody>
          <a:bodyPr anchor="ctr"/>
          <a:lstStyle/>
          <a:p>
            <a:pPr algn="ctr"/>
            <a:r>
              <a:rPr lang="en-PH" dirty="0"/>
              <a:t>The Core Lesson</a:t>
            </a:r>
          </a:p>
        </p:txBody>
      </p:sp>
      <p:sp>
        <p:nvSpPr>
          <p:cNvPr id="3" name="Content Placeholder 2">
            <a:extLst>
              <a:ext uri="{FF2B5EF4-FFF2-40B4-BE49-F238E27FC236}">
                <a16:creationId xmlns:a16="http://schemas.microsoft.com/office/drawing/2014/main" id="{03AA1FD6-712A-D621-8E39-AA0437AD2FBF}"/>
              </a:ext>
            </a:extLst>
          </p:cNvPr>
          <p:cNvSpPr>
            <a:spLocks noGrp="1"/>
          </p:cNvSpPr>
          <p:nvPr>
            <p:ph idx="1"/>
          </p:nvPr>
        </p:nvSpPr>
        <p:spPr>
          <a:xfrm>
            <a:off x="1097280" y="2108201"/>
            <a:ext cx="10058400" cy="4161970"/>
          </a:xfrm>
        </p:spPr>
        <p:txBody>
          <a:bodyPr>
            <a:normAutofit/>
          </a:bodyPr>
          <a:lstStyle/>
          <a:p>
            <a:pPr algn="just"/>
            <a:r>
              <a:rPr lang="en-PH" sz="2800" b="1" dirty="0"/>
              <a:t>The Technology Gap (Then vs. Now)</a:t>
            </a:r>
          </a:p>
          <a:p>
            <a:pPr algn="just">
              <a:buFont typeface="Courier New" panose="02070309020205020404" pitchFamily="49" charset="0"/>
              <a:buChar char="o"/>
            </a:pPr>
            <a:r>
              <a:rPr lang="en-PH" sz="2800" b="1" dirty="0"/>
              <a:t> </a:t>
            </a:r>
            <a:r>
              <a:rPr lang="en-PH" sz="2800" dirty="0"/>
              <a:t>The Disadvantage (Then): 100% manual translation. No AI. High frustration.</a:t>
            </a:r>
          </a:p>
          <a:p>
            <a:pPr algn="just">
              <a:buFont typeface="Courier New" panose="02070309020205020404" pitchFamily="49" charset="0"/>
              <a:buChar char="o"/>
            </a:pPr>
            <a:r>
              <a:rPr lang="en-PH" sz="2800" dirty="0"/>
              <a:t> The LLM Shift (Now): ChatGPT, </a:t>
            </a:r>
            <a:r>
              <a:rPr lang="en-PH" sz="2800" dirty="0" err="1"/>
              <a:t>DeepL</a:t>
            </a:r>
            <a:r>
              <a:rPr lang="en-PH" sz="2800" dirty="0"/>
              <a:t>, and AI translation tools handle the raw data.</a:t>
            </a:r>
          </a:p>
          <a:p>
            <a:pPr algn="just">
              <a:buFont typeface="Courier New" panose="02070309020205020404" pitchFamily="49" charset="0"/>
              <a:buChar char="o"/>
            </a:pPr>
            <a:r>
              <a:rPr lang="en-PH" sz="2800" dirty="0"/>
              <a:t> The Modern Engineer’s Role: We no longer translate from scratch. We validate.</a:t>
            </a:r>
          </a:p>
          <a:p>
            <a:endParaRPr lang="en-PH" dirty="0"/>
          </a:p>
        </p:txBody>
      </p:sp>
    </p:spTree>
    <p:extLst>
      <p:ext uri="{BB962C8B-B14F-4D97-AF65-F5344CB8AC3E}">
        <p14:creationId xmlns:p14="http://schemas.microsoft.com/office/powerpoint/2010/main" val="3530586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56CF3-BF6D-D7B0-1B3E-BD35C9771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EE162-E34A-E73E-8428-AE62C0B8FE9C}"/>
              </a:ext>
            </a:extLst>
          </p:cNvPr>
          <p:cNvSpPr>
            <a:spLocks noGrp="1"/>
          </p:cNvSpPr>
          <p:nvPr>
            <p:ph type="title"/>
          </p:nvPr>
        </p:nvSpPr>
        <p:spPr/>
        <p:txBody>
          <a:bodyPr anchor="ctr"/>
          <a:lstStyle/>
          <a:p>
            <a:pPr algn="ctr"/>
            <a:r>
              <a:rPr lang="en-PH" dirty="0"/>
              <a:t>The Core Lesson</a:t>
            </a:r>
          </a:p>
        </p:txBody>
      </p:sp>
      <p:sp>
        <p:nvSpPr>
          <p:cNvPr id="3" name="Content Placeholder 2">
            <a:extLst>
              <a:ext uri="{FF2B5EF4-FFF2-40B4-BE49-F238E27FC236}">
                <a16:creationId xmlns:a16="http://schemas.microsoft.com/office/drawing/2014/main" id="{7D6581A8-27DB-6EBF-77C9-7E1D61F3D28E}"/>
              </a:ext>
            </a:extLst>
          </p:cNvPr>
          <p:cNvSpPr>
            <a:spLocks noGrp="1"/>
          </p:cNvSpPr>
          <p:nvPr>
            <p:ph idx="1"/>
          </p:nvPr>
        </p:nvSpPr>
        <p:spPr>
          <a:xfrm>
            <a:off x="426720" y="1915886"/>
            <a:ext cx="11521440" cy="4458787"/>
          </a:xfrm>
        </p:spPr>
        <p:txBody>
          <a:bodyPr>
            <a:normAutofit/>
          </a:bodyPr>
          <a:lstStyle/>
          <a:p>
            <a:pPr marL="0" indent="0">
              <a:buNone/>
            </a:pPr>
            <a:r>
              <a:rPr lang="en-PH" sz="3200" b="1" dirty="0"/>
              <a:t>The Missed Resources</a:t>
            </a:r>
          </a:p>
          <a:p>
            <a:pPr>
              <a:buFont typeface="Wingdings" panose="05000000000000000000" pitchFamily="2" charset="2"/>
              <a:buChar char="v"/>
            </a:pPr>
            <a:r>
              <a:rPr lang="en-PH" sz="3200" b="1" dirty="0"/>
              <a:t> The Myth:</a:t>
            </a:r>
            <a:r>
              <a:rPr lang="en-PH" sz="3200" dirty="0"/>
              <a:t> "I must solve this problem entirely alone."</a:t>
            </a:r>
          </a:p>
          <a:p>
            <a:pPr>
              <a:buFont typeface="Wingdings" panose="05000000000000000000" pitchFamily="2" charset="2"/>
              <a:buChar char="v"/>
            </a:pPr>
            <a:r>
              <a:rPr lang="en-PH" sz="3200" b="1" dirty="0"/>
              <a:t> The Unused Safety Net:</a:t>
            </a:r>
            <a:endParaRPr lang="en-PH" sz="3200" dirty="0"/>
          </a:p>
          <a:p>
            <a:pPr lvl="1">
              <a:buFont typeface="Courier New" panose="02070309020205020404" pitchFamily="49" charset="0"/>
              <a:buChar char="o"/>
            </a:pPr>
            <a:r>
              <a:rPr lang="en-PH" sz="2800" dirty="0"/>
              <a:t> Nihongo Language Trainer</a:t>
            </a:r>
          </a:p>
          <a:p>
            <a:pPr lvl="1">
              <a:buFont typeface="Courier New" panose="02070309020205020404" pitchFamily="49" charset="0"/>
              <a:buChar char="o"/>
            </a:pPr>
            <a:r>
              <a:rPr lang="en-PH" sz="2800" dirty="0"/>
              <a:t> Senior Japanese Engineers inside the plant</a:t>
            </a:r>
          </a:p>
          <a:p>
            <a:pPr>
              <a:buFont typeface="Wingdings" panose="05000000000000000000" pitchFamily="2" charset="2"/>
              <a:buChar char="v"/>
            </a:pPr>
            <a:r>
              <a:rPr lang="en-PH" sz="3200" b="1" dirty="0"/>
              <a:t> Industrial Standard:</a:t>
            </a:r>
            <a:r>
              <a:rPr lang="en-PH" sz="3200" dirty="0"/>
              <a:t> Cross-referencing with the original designers is a requirement, not a weakness.</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B6BCA511-BC77-50AC-4D89-C5E439FA9E46}"/>
                  </a:ext>
                </a:extLst>
              </p14:cNvPr>
              <p14:cNvContentPartPr/>
              <p14:nvPr/>
            </p14:nvContentPartPr>
            <p14:xfrm>
              <a:off x="1932926" y="3838714"/>
              <a:ext cx="12600" cy="10800"/>
            </p14:xfrm>
          </p:contentPart>
        </mc:Choice>
        <mc:Fallback xmlns="">
          <p:pic>
            <p:nvPicPr>
              <p:cNvPr id="4" name="Ink 3">
                <a:extLst>
                  <a:ext uri="{FF2B5EF4-FFF2-40B4-BE49-F238E27FC236}">
                    <a16:creationId xmlns:a16="http://schemas.microsoft.com/office/drawing/2014/main" id="{B6BCA511-BC77-50AC-4D89-C5E439FA9E46}"/>
                  </a:ext>
                </a:extLst>
              </p:cNvPr>
              <p:cNvPicPr/>
              <p:nvPr/>
            </p:nvPicPr>
            <p:blipFill>
              <a:blip r:embed="rId4"/>
              <a:stretch>
                <a:fillRect/>
              </a:stretch>
            </p:blipFill>
            <p:spPr>
              <a:xfrm>
                <a:off x="1915286" y="3820714"/>
                <a:ext cx="482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428003C-45F4-A184-869B-E4AC102D5050}"/>
                  </a:ext>
                </a:extLst>
              </p14:cNvPr>
              <p14:cNvContentPartPr/>
              <p14:nvPr/>
            </p14:nvContentPartPr>
            <p14:xfrm>
              <a:off x="1950206" y="1192714"/>
              <a:ext cx="7560" cy="360"/>
            </p14:xfrm>
          </p:contentPart>
        </mc:Choice>
        <mc:Fallback xmlns="">
          <p:pic>
            <p:nvPicPr>
              <p:cNvPr id="5" name="Ink 4">
                <a:extLst>
                  <a:ext uri="{FF2B5EF4-FFF2-40B4-BE49-F238E27FC236}">
                    <a16:creationId xmlns:a16="http://schemas.microsoft.com/office/drawing/2014/main" id="{4428003C-45F4-A184-869B-E4AC102D5050}"/>
                  </a:ext>
                </a:extLst>
              </p:cNvPr>
              <p:cNvPicPr/>
              <p:nvPr/>
            </p:nvPicPr>
            <p:blipFill>
              <a:blip r:embed="rId6"/>
              <a:stretch>
                <a:fillRect/>
              </a:stretch>
            </p:blipFill>
            <p:spPr>
              <a:xfrm>
                <a:off x="1932566" y="1174714"/>
                <a:ext cx="43200" cy="36000"/>
              </a:xfrm>
              <a:prstGeom prst="rect">
                <a:avLst/>
              </a:prstGeom>
            </p:spPr>
          </p:pic>
        </mc:Fallback>
      </mc:AlternateContent>
    </p:spTree>
    <p:extLst>
      <p:ext uri="{BB962C8B-B14F-4D97-AF65-F5344CB8AC3E}">
        <p14:creationId xmlns:p14="http://schemas.microsoft.com/office/powerpoint/2010/main" val="3482393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BA242-1854-2198-D67E-99066762EF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DB865C-405E-5D65-CB0A-C423770FE7F1}"/>
              </a:ext>
            </a:extLst>
          </p:cNvPr>
          <p:cNvSpPr>
            <a:spLocks noGrp="1"/>
          </p:cNvSpPr>
          <p:nvPr>
            <p:ph type="title"/>
          </p:nvPr>
        </p:nvSpPr>
        <p:spPr/>
        <p:txBody>
          <a:bodyPr anchor="ctr"/>
          <a:lstStyle/>
          <a:p>
            <a:pPr algn="ctr"/>
            <a:r>
              <a:rPr lang="en-PH" dirty="0"/>
              <a:t>The Core Lesson</a:t>
            </a:r>
          </a:p>
        </p:txBody>
      </p:sp>
      <p:sp>
        <p:nvSpPr>
          <p:cNvPr id="3" name="Content Placeholder 2">
            <a:extLst>
              <a:ext uri="{FF2B5EF4-FFF2-40B4-BE49-F238E27FC236}">
                <a16:creationId xmlns:a16="http://schemas.microsoft.com/office/drawing/2014/main" id="{A6F5226A-669E-7DF4-A7E3-128FF4B96D89}"/>
              </a:ext>
            </a:extLst>
          </p:cNvPr>
          <p:cNvSpPr>
            <a:spLocks noGrp="1"/>
          </p:cNvSpPr>
          <p:nvPr>
            <p:ph idx="1"/>
          </p:nvPr>
        </p:nvSpPr>
        <p:spPr>
          <a:xfrm>
            <a:off x="426720" y="1915886"/>
            <a:ext cx="11521440" cy="4458787"/>
          </a:xfrm>
        </p:spPr>
        <p:txBody>
          <a:bodyPr>
            <a:normAutofit/>
          </a:bodyPr>
          <a:lstStyle/>
          <a:p>
            <a:pPr marL="0" indent="0">
              <a:buNone/>
            </a:pPr>
            <a:r>
              <a:rPr lang="en-PH" sz="3200" dirty="0"/>
              <a:t>The Career Cost </a:t>
            </a:r>
          </a:p>
          <a:p>
            <a:pPr>
              <a:buFont typeface="Courier New" panose="02070309020205020404" pitchFamily="49" charset="0"/>
              <a:buChar char="o"/>
            </a:pPr>
            <a:r>
              <a:rPr lang="en-PH" sz="3200" b="1" dirty="0"/>
              <a:t> The Action:</a:t>
            </a:r>
            <a:r>
              <a:rPr lang="en-PH" sz="3200" dirty="0"/>
              <a:t> Resigned to avoid a difficult first task.</a:t>
            </a:r>
          </a:p>
          <a:p>
            <a:pPr>
              <a:buFont typeface="Courier New" panose="02070309020205020404" pitchFamily="49" charset="0"/>
              <a:buChar char="o"/>
            </a:pPr>
            <a:r>
              <a:rPr lang="en-PH" sz="3200" b="1" dirty="0"/>
              <a:t> The True Cost:</a:t>
            </a:r>
            <a:r>
              <a:rPr lang="en-PH" sz="3200" dirty="0"/>
              <a:t> Lost a rare, highly lucrative career advantage.</a:t>
            </a:r>
          </a:p>
          <a:p>
            <a:pPr>
              <a:buFont typeface="Courier New" panose="02070309020205020404" pitchFamily="49" charset="0"/>
              <a:buChar char="o"/>
            </a:pPr>
            <a:r>
              <a:rPr lang="en-PH" sz="3200" b="1" dirty="0"/>
              <a:t> The Value of the Struggle:</a:t>
            </a:r>
            <a:r>
              <a:rPr lang="en-PH" sz="3200" dirty="0"/>
              <a:t> A Mechatronics/ECE Engineer who can read Japanese schematics and speak Nihongo commands the global market.</a:t>
            </a:r>
          </a:p>
          <a:p>
            <a:pPr marL="0" indent="0">
              <a:buNone/>
            </a:pPr>
            <a:endParaRPr lang="en-PH" sz="32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3FAC37EB-122E-8FB0-F5D7-06EF2D935901}"/>
                  </a:ext>
                </a:extLst>
              </p14:cNvPr>
              <p14:cNvContentPartPr/>
              <p14:nvPr/>
            </p14:nvContentPartPr>
            <p14:xfrm>
              <a:off x="1932926" y="3838714"/>
              <a:ext cx="12600" cy="10800"/>
            </p14:xfrm>
          </p:contentPart>
        </mc:Choice>
        <mc:Fallback xmlns="">
          <p:pic>
            <p:nvPicPr>
              <p:cNvPr id="4" name="Ink 3">
                <a:extLst>
                  <a:ext uri="{FF2B5EF4-FFF2-40B4-BE49-F238E27FC236}">
                    <a16:creationId xmlns:a16="http://schemas.microsoft.com/office/drawing/2014/main" id="{3FAC37EB-122E-8FB0-F5D7-06EF2D935901}"/>
                  </a:ext>
                </a:extLst>
              </p:cNvPr>
              <p:cNvPicPr/>
              <p:nvPr/>
            </p:nvPicPr>
            <p:blipFill>
              <a:blip r:embed="rId4"/>
              <a:stretch>
                <a:fillRect/>
              </a:stretch>
            </p:blipFill>
            <p:spPr>
              <a:xfrm>
                <a:off x="1915286" y="3820714"/>
                <a:ext cx="482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9E47FB35-0948-E3F3-3A1A-5545872B0DC0}"/>
                  </a:ext>
                </a:extLst>
              </p14:cNvPr>
              <p14:cNvContentPartPr/>
              <p14:nvPr/>
            </p14:nvContentPartPr>
            <p14:xfrm>
              <a:off x="1950206" y="1192714"/>
              <a:ext cx="7560" cy="360"/>
            </p14:xfrm>
          </p:contentPart>
        </mc:Choice>
        <mc:Fallback xmlns="">
          <p:pic>
            <p:nvPicPr>
              <p:cNvPr id="5" name="Ink 4">
                <a:extLst>
                  <a:ext uri="{FF2B5EF4-FFF2-40B4-BE49-F238E27FC236}">
                    <a16:creationId xmlns:a16="http://schemas.microsoft.com/office/drawing/2014/main" id="{9E47FB35-0948-E3F3-3A1A-5545872B0DC0}"/>
                  </a:ext>
                </a:extLst>
              </p:cNvPr>
              <p:cNvPicPr/>
              <p:nvPr/>
            </p:nvPicPr>
            <p:blipFill>
              <a:blip r:embed="rId6"/>
              <a:stretch>
                <a:fillRect/>
              </a:stretch>
            </p:blipFill>
            <p:spPr>
              <a:xfrm>
                <a:off x="1932566" y="1174714"/>
                <a:ext cx="43200" cy="36000"/>
              </a:xfrm>
              <a:prstGeom prst="rect">
                <a:avLst/>
              </a:prstGeom>
            </p:spPr>
          </p:pic>
        </mc:Fallback>
      </mc:AlternateContent>
    </p:spTree>
    <p:extLst>
      <p:ext uri="{BB962C8B-B14F-4D97-AF65-F5344CB8AC3E}">
        <p14:creationId xmlns:p14="http://schemas.microsoft.com/office/powerpoint/2010/main" val="756329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DA048-2BC1-A67F-07EF-E79A14CCB3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AEF1E-6C5F-5FC3-4398-5CFC164CAF0B}"/>
              </a:ext>
            </a:extLst>
          </p:cNvPr>
          <p:cNvSpPr>
            <a:spLocks noGrp="1"/>
          </p:cNvSpPr>
          <p:nvPr>
            <p:ph type="title"/>
          </p:nvPr>
        </p:nvSpPr>
        <p:spPr/>
        <p:txBody>
          <a:bodyPr anchor="ctr"/>
          <a:lstStyle/>
          <a:p>
            <a:pPr algn="ctr"/>
            <a:r>
              <a:rPr lang="en-PH" dirty="0"/>
              <a:t>The Core Lesson</a:t>
            </a:r>
          </a:p>
        </p:txBody>
      </p:sp>
      <p:sp>
        <p:nvSpPr>
          <p:cNvPr id="3" name="Content Placeholder 2">
            <a:extLst>
              <a:ext uri="{FF2B5EF4-FFF2-40B4-BE49-F238E27FC236}">
                <a16:creationId xmlns:a16="http://schemas.microsoft.com/office/drawing/2014/main" id="{E71EA39A-0263-353C-9A7F-A0F44CEA5DC8}"/>
              </a:ext>
            </a:extLst>
          </p:cNvPr>
          <p:cNvSpPr>
            <a:spLocks noGrp="1"/>
          </p:cNvSpPr>
          <p:nvPr>
            <p:ph idx="1"/>
          </p:nvPr>
        </p:nvSpPr>
        <p:spPr>
          <a:xfrm>
            <a:off x="426720" y="1915886"/>
            <a:ext cx="11521440" cy="4458787"/>
          </a:xfrm>
        </p:spPr>
        <p:txBody>
          <a:bodyPr>
            <a:normAutofit fontScale="92500"/>
          </a:bodyPr>
          <a:lstStyle/>
          <a:p>
            <a:pPr marL="0" indent="0">
              <a:buNone/>
            </a:pPr>
            <a:r>
              <a:rPr lang="en-PH" sz="3200" dirty="0"/>
              <a:t>Using Ethics as a Professional Tool</a:t>
            </a:r>
          </a:p>
          <a:p>
            <a:pPr>
              <a:buFont typeface="Courier New" panose="02070309020205020404" pitchFamily="49" charset="0"/>
              <a:buChar char="o"/>
            </a:pPr>
            <a:r>
              <a:rPr lang="en-PH" sz="3200" b="1" dirty="0"/>
              <a:t>  NSPE Code of Ethics:</a:t>
            </a:r>
            <a:r>
              <a:rPr lang="en-PH" sz="3200" dirty="0"/>
              <a:t> </a:t>
            </a:r>
            <a:r>
              <a:rPr lang="en-PH" sz="3200" i="1" dirty="0"/>
              <a:t>"Engineers shall perform services only in the areas of their competence."</a:t>
            </a:r>
            <a:endParaRPr lang="en-PH" sz="3200" dirty="0"/>
          </a:p>
          <a:p>
            <a:pPr>
              <a:buFont typeface="Courier New" panose="02070309020205020404" pitchFamily="49" charset="0"/>
              <a:buChar char="o"/>
            </a:pPr>
            <a:r>
              <a:rPr lang="en-PH" sz="3200" b="1" dirty="0"/>
              <a:t> The Mistake:</a:t>
            </a:r>
            <a:r>
              <a:rPr lang="en-PH" sz="3200" dirty="0"/>
              <a:t> Using incompetence as an excuse to resign.</a:t>
            </a:r>
          </a:p>
          <a:p>
            <a:pPr>
              <a:buFont typeface="Courier New" panose="02070309020205020404" pitchFamily="49" charset="0"/>
              <a:buChar char="o"/>
            </a:pPr>
            <a:r>
              <a:rPr lang="en-PH" sz="3200" b="1" dirty="0"/>
              <a:t> The Professional Solution:</a:t>
            </a:r>
            <a:r>
              <a:rPr lang="en-PH" sz="3200" dirty="0"/>
              <a:t> Using the Code to negotiate safety.</a:t>
            </a:r>
          </a:p>
          <a:p>
            <a:pPr>
              <a:buFont typeface="Courier New" panose="02070309020205020404" pitchFamily="49" charset="0"/>
              <a:buChar char="o"/>
            </a:pPr>
            <a:r>
              <a:rPr lang="en-PH" sz="3200" b="1" dirty="0"/>
              <a:t> The Conversation:</a:t>
            </a:r>
            <a:r>
              <a:rPr lang="en-PH" sz="3200" dirty="0"/>
              <a:t> </a:t>
            </a:r>
            <a:r>
              <a:rPr lang="en-PH" sz="3200" i="1" dirty="0"/>
              <a:t>"I will do the work, but I require my Nihongo trainer or a senior engineer to verify the final draft to ensure public safety."</a:t>
            </a:r>
            <a:endParaRPr lang="en-PH" sz="3200" dirty="0"/>
          </a:p>
          <a:p>
            <a:pPr marL="0" indent="0">
              <a:buNone/>
            </a:pPr>
            <a:endParaRPr lang="en-PH" sz="32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AE9F8EB4-6806-45CF-0BA0-08F98791AF81}"/>
                  </a:ext>
                </a:extLst>
              </p14:cNvPr>
              <p14:cNvContentPartPr/>
              <p14:nvPr/>
            </p14:nvContentPartPr>
            <p14:xfrm>
              <a:off x="1932926" y="3838714"/>
              <a:ext cx="12600" cy="10800"/>
            </p14:xfrm>
          </p:contentPart>
        </mc:Choice>
        <mc:Fallback xmlns="">
          <p:pic>
            <p:nvPicPr>
              <p:cNvPr id="4" name="Ink 3">
                <a:extLst>
                  <a:ext uri="{FF2B5EF4-FFF2-40B4-BE49-F238E27FC236}">
                    <a16:creationId xmlns:a16="http://schemas.microsoft.com/office/drawing/2014/main" id="{AE9F8EB4-6806-45CF-0BA0-08F98791AF81}"/>
                  </a:ext>
                </a:extLst>
              </p:cNvPr>
              <p:cNvPicPr/>
              <p:nvPr/>
            </p:nvPicPr>
            <p:blipFill>
              <a:blip r:embed="rId4"/>
              <a:stretch>
                <a:fillRect/>
              </a:stretch>
            </p:blipFill>
            <p:spPr>
              <a:xfrm>
                <a:off x="1915286" y="3820714"/>
                <a:ext cx="482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3C367349-8A86-B690-A4A1-E0EE08E69868}"/>
                  </a:ext>
                </a:extLst>
              </p14:cNvPr>
              <p14:cNvContentPartPr/>
              <p14:nvPr/>
            </p14:nvContentPartPr>
            <p14:xfrm>
              <a:off x="1950206" y="1192714"/>
              <a:ext cx="7560" cy="360"/>
            </p14:xfrm>
          </p:contentPart>
        </mc:Choice>
        <mc:Fallback xmlns="">
          <p:pic>
            <p:nvPicPr>
              <p:cNvPr id="5" name="Ink 4">
                <a:extLst>
                  <a:ext uri="{FF2B5EF4-FFF2-40B4-BE49-F238E27FC236}">
                    <a16:creationId xmlns:a16="http://schemas.microsoft.com/office/drawing/2014/main" id="{3C367349-8A86-B690-A4A1-E0EE08E69868}"/>
                  </a:ext>
                </a:extLst>
              </p:cNvPr>
              <p:cNvPicPr/>
              <p:nvPr/>
            </p:nvPicPr>
            <p:blipFill>
              <a:blip r:embed="rId6"/>
              <a:stretch>
                <a:fillRect/>
              </a:stretch>
            </p:blipFill>
            <p:spPr>
              <a:xfrm>
                <a:off x="1932566" y="1174714"/>
                <a:ext cx="43200" cy="36000"/>
              </a:xfrm>
              <a:prstGeom prst="rect">
                <a:avLst/>
              </a:prstGeom>
            </p:spPr>
          </p:pic>
        </mc:Fallback>
      </mc:AlternateContent>
    </p:spTree>
    <p:extLst>
      <p:ext uri="{BB962C8B-B14F-4D97-AF65-F5344CB8AC3E}">
        <p14:creationId xmlns:p14="http://schemas.microsoft.com/office/powerpoint/2010/main" val="4191338139"/>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purl.org/dc/dcmitype/"/>
    <ds:schemaRef ds:uri="http://schemas.microsoft.com/office/2006/metadata/properties"/>
    <ds:schemaRef ds:uri="http://schemas.microsoft.com/office/infopath/2007/PartnerControls"/>
    <ds:schemaRef ds:uri="http://www.w3.org/XML/1998/namespace"/>
    <ds:schemaRef ds:uri="71af3243-3dd4-4a8d-8c0d-dd76da1f02a5"/>
    <ds:schemaRef ds:uri="http://purl.org/dc/elements/1.1/"/>
    <ds:schemaRef ds:uri="http://schemas.microsoft.com/office/2006/documentManagement/types"/>
    <ds:schemaRef ds:uri="http://purl.org/dc/terms/"/>
    <ds:schemaRef ds:uri="http://schemas.openxmlformats.org/package/2006/metadata/core-properties"/>
    <ds:schemaRef ds:uri="230e9df3-be65-4c73-a93b-d1236ebd677e"/>
    <ds:schemaRef ds:uri="16c05727-aa75-4e4a-9b5f-8a80a1165891"/>
    <ds:schemaRef ds:uri="http://schemas.microsoft.com/sharepoint/v3"/>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{EDCC2E50-673F-4CBE-8601-0398BB606B68}TFf0a5ceae-4542-492d-822e-d65a94fb0e1e3b562c5a_win32-009a0557e699</Template>
  <TotalTime>590</TotalTime>
  <Words>1043</Words>
  <Application>Microsoft Office PowerPoint</Application>
  <PresentationFormat>Widescreen</PresentationFormat>
  <Paragraphs>61</Paragraphs>
  <Slides>10</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Bookman Old Style</vt:lpstr>
      <vt:lpstr>Calibri</vt:lpstr>
      <vt:lpstr>Courier New</vt:lpstr>
      <vt:lpstr>Franklin Gothic Book</vt:lpstr>
      <vt:lpstr>Wingdings</vt:lpstr>
      <vt:lpstr>Custom</vt:lpstr>
      <vt:lpstr>Recitation 1</vt:lpstr>
      <vt:lpstr>"Engineering is a universal language, but technical documentation is not."</vt:lpstr>
      <vt:lpstr>Question to the selected students:</vt:lpstr>
      <vt:lpstr>Question to the selected students:</vt:lpstr>
      <vt:lpstr>Question for the Rest of the Class :</vt:lpstr>
      <vt:lpstr>Question for the Rest of the Class :</vt:lpstr>
      <vt:lpstr>The Core Lesson</vt:lpstr>
      <vt:lpstr>The Core Lesson</vt:lpstr>
      <vt:lpstr>The Core Lesson</vt:lpstr>
      <vt:lpstr>The Core Lesson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Mikko De Torres</dc:creator>
  <cp:lastModifiedBy>Mikko De Torres</cp:lastModifiedBy>
  <cp:revision>5</cp:revision>
  <cp:lastPrinted>2026-06-19T23:14:53Z</cp:lastPrinted>
  <dcterms:created xsi:type="dcterms:W3CDTF">2026-06-18T04:49:44Z</dcterms:created>
  <dcterms:modified xsi:type="dcterms:W3CDTF">2026-06-20T09:41:28Z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
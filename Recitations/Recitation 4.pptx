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notesSlides/notesSlide7.xml" ContentType="application/vnd.openxmlformats-officedocument.presentationml.notesSlide+xml"/>
  <Override PartName="/ppt/ink/ink3.xml" ContentType="application/inkml+xml"/>
  <Override PartName="/ppt/ink/ink4.xml" ContentType="application/inkml+xml"/>
  <Override PartName="/ppt/notesSlides/notesSlide8.xml" ContentType="application/vnd.openxmlformats-officedocument.presentationml.notesSlide+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15"/>
  </p:notesMasterIdLst>
  <p:sldIdLst>
    <p:sldId id="257" r:id="rId5"/>
    <p:sldId id="258" r:id="rId6"/>
    <p:sldId id="259" r:id="rId7"/>
    <p:sldId id="268" r:id="rId8"/>
    <p:sldId id="261" r:id="rId9"/>
    <p:sldId id="262" r:id="rId10"/>
    <p:sldId id="263" r:id="rId11"/>
    <p:sldId id="264" r:id="rId12"/>
    <p:sldId id="265" r:id="rId13"/>
    <p:sldId id="267" r:id="rId14"/>
  </p:sldIdLst>
  <p:sldSz cx="12192000" cy="6858000"/>
  <p:notesSz cx="6888163" cy="100187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94613" autoAdjust="0"/>
  </p:normalViewPr>
  <p:slideViewPr>
    <p:cSldViewPr snapToGrid="0">
      <p:cViewPr varScale="1">
        <p:scale>
          <a:sx n="73" d="100"/>
          <a:sy n="73" d="100"/>
        </p:scale>
        <p:origin x="1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2676"/>
          </a:xfrm>
          <a:prstGeom prst="rect">
            <a:avLst/>
          </a:prstGeom>
        </p:spPr>
        <p:txBody>
          <a:bodyPr vert="horz" lIns="96606" tIns="48303" rIns="96606" bIns="48303" rtlCol="0"/>
          <a:lstStyle>
            <a:lvl1pPr algn="l">
              <a:defRPr sz="1300"/>
            </a:lvl1pPr>
          </a:lstStyle>
          <a:p>
            <a:endParaRPr lang="en-PH"/>
          </a:p>
        </p:txBody>
      </p:sp>
      <p:sp>
        <p:nvSpPr>
          <p:cNvPr id="3" name="Date Placeholder 2"/>
          <p:cNvSpPr>
            <a:spLocks noGrp="1"/>
          </p:cNvSpPr>
          <p:nvPr>
            <p:ph type="dt" idx="1"/>
          </p:nvPr>
        </p:nvSpPr>
        <p:spPr>
          <a:xfrm>
            <a:off x="3901698" y="0"/>
            <a:ext cx="2984871" cy="502676"/>
          </a:xfrm>
          <a:prstGeom prst="rect">
            <a:avLst/>
          </a:prstGeom>
        </p:spPr>
        <p:txBody>
          <a:bodyPr vert="horz" lIns="96606" tIns="48303" rIns="96606" bIns="48303" rtlCol="0"/>
          <a:lstStyle>
            <a:lvl1pPr algn="r">
              <a:defRPr sz="1300"/>
            </a:lvl1pPr>
          </a:lstStyle>
          <a:p>
            <a:fld id="{53FA57CA-15DA-4E3C-8ACC-DFD5341A9866}" type="datetimeFigureOut">
              <a:rPr lang="en-PH" smtClean="0"/>
              <a:t>04/07/2026</a:t>
            </a:fld>
            <a:endParaRPr lang="en-PH"/>
          </a:p>
        </p:txBody>
      </p:sp>
      <p:sp>
        <p:nvSpPr>
          <p:cNvPr id="4" name="Slide Image Placeholder 3"/>
          <p:cNvSpPr>
            <a:spLocks noGrp="1" noRot="1" noChangeAspect="1"/>
          </p:cNvSpPr>
          <p:nvPr>
            <p:ph type="sldImg" idx="2"/>
          </p:nvPr>
        </p:nvSpPr>
        <p:spPr>
          <a:xfrm>
            <a:off x="439738" y="1252538"/>
            <a:ext cx="6008687" cy="3381375"/>
          </a:xfrm>
          <a:prstGeom prst="rect">
            <a:avLst/>
          </a:prstGeom>
          <a:noFill/>
          <a:ln w="12700">
            <a:solidFill>
              <a:prstClr val="black"/>
            </a:solidFill>
          </a:ln>
        </p:spPr>
        <p:txBody>
          <a:bodyPr vert="horz" lIns="96606" tIns="48303" rIns="96606" bIns="48303" rtlCol="0" anchor="ctr"/>
          <a:lstStyle/>
          <a:p>
            <a:endParaRPr lang="en-PH"/>
          </a:p>
        </p:txBody>
      </p:sp>
      <p:sp>
        <p:nvSpPr>
          <p:cNvPr id="5" name="Notes Placeholder 4"/>
          <p:cNvSpPr>
            <a:spLocks noGrp="1"/>
          </p:cNvSpPr>
          <p:nvPr>
            <p:ph type="body" sz="quarter" idx="3"/>
          </p:nvPr>
        </p:nvSpPr>
        <p:spPr>
          <a:xfrm>
            <a:off x="688817" y="4821506"/>
            <a:ext cx="5510530" cy="3944868"/>
          </a:xfrm>
          <a:prstGeom prst="rect">
            <a:avLst/>
          </a:prstGeom>
        </p:spPr>
        <p:txBody>
          <a:bodyPr vert="horz" lIns="96606" tIns="48303" rIns="96606" bIns="4830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9516039"/>
            <a:ext cx="2984871" cy="502674"/>
          </a:xfrm>
          <a:prstGeom prst="rect">
            <a:avLst/>
          </a:prstGeom>
        </p:spPr>
        <p:txBody>
          <a:bodyPr vert="horz" lIns="96606" tIns="48303" rIns="96606" bIns="48303" rtlCol="0" anchor="b"/>
          <a:lstStyle>
            <a:lvl1pPr algn="l">
              <a:defRPr sz="1300"/>
            </a:lvl1pPr>
          </a:lstStyle>
          <a:p>
            <a:endParaRPr lang="en-PH"/>
          </a:p>
        </p:txBody>
      </p:sp>
      <p:sp>
        <p:nvSpPr>
          <p:cNvPr id="7" name="Slide Number Placeholder 6"/>
          <p:cNvSpPr>
            <a:spLocks noGrp="1"/>
          </p:cNvSpPr>
          <p:nvPr>
            <p:ph type="sldNum" sz="quarter" idx="5"/>
          </p:nvPr>
        </p:nvSpPr>
        <p:spPr>
          <a:xfrm>
            <a:off x="3901698" y="9516039"/>
            <a:ext cx="2984871" cy="502674"/>
          </a:xfrm>
          <a:prstGeom prst="rect">
            <a:avLst/>
          </a:prstGeom>
        </p:spPr>
        <p:txBody>
          <a:bodyPr vert="horz" lIns="96606" tIns="48303" rIns="96606" bIns="48303" rtlCol="0" anchor="b"/>
          <a:lstStyle>
            <a:lvl1pPr algn="r">
              <a:defRPr sz="1300"/>
            </a:lvl1pPr>
          </a:lstStyle>
          <a:p>
            <a:fld id="{889AB216-703E-453B-8FEF-77A64385AA89}" type="slidenum">
              <a:rPr lang="en-PH" smtClean="0"/>
              <a:t>‹#›</a:t>
            </a:fld>
            <a:endParaRPr lang="en-PH"/>
          </a:p>
        </p:txBody>
      </p:sp>
    </p:spTree>
    <p:extLst>
      <p:ext uri="{BB962C8B-B14F-4D97-AF65-F5344CB8AC3E}">
        <p14:creationId xmlns:p14="http://schemas.microsoft.com/office/powerpoint/2010/main" val="240828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889AB216-703E-453B-8FEF-77A64385AA89}" type="slidenum">
              <a:rPr lang="en-PH" smtClean="0"/>
              <a:t>3</a:t>
            </a:fld>
            <a:endParaRPr lang="en-PH"/>
          </a:p>
        </p:txBody>
      </p:sp>
    </p:spTree>
    <p:extLst>
      <p:ext uri="{BB962C8B-B14F-4D97-AF65-F5344CB8AC3E}">
        <p14:creationId xmlns:p14="http://schemas.microsoft.com/office/powerpoint/2010/main" val="2265015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03404-0018-DBAE-3E97-0684049D5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A9372-5A98-D26D-22F5-07392011B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F875C-A787-C33A-B92A-5BD0699FB0C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69AC637E-D3A1-31F3-9B47-972ACA069AD9}"/>
              </a:ext>
            </a:extLst>
          </p:cNvPr>
          <p:cNvSpPr>
            <a:spLocks noGrp="1"/>
          </p:cNvSpPr>
          <p:nvPr>
            <p:ph type="sldNum" sz="quarter" idx="5"/>
          </p:nvPr>
        </p:nvSpPr>
        <p:spPr/>
        <p:txBody>
          <a:bodyPr/>
          <a:lstStyle/>
          <a:p>
            <a:fld id="{889AB216-703E-453B-8FEF-77A64385AA89}" type="slidenum">
              <a:rPr lang="en-PH" smtClean="0"/>
              <a:t>4</a:t>
            </a:fld>
            <a:endParaRPr lang="en-PH"/>
          </a:p>
        </p:txBody>
      </p:sp>
    </p:spTree>
    <p:extLst>
      <p:ext uri="{BB962C8B-B14F-4D97-AF65-F5344CB8AC3E}">
        <p14:creationId xmlns:p14="http://schemas.microsoft.com/office/powerpoint/2010/main" val="787705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889AB216-703E-453B-8FEF-77A64385AA89}" type="slidenum">
              <a:rPr lang="en-PH" smtClean="0"/>
              <a:t>5</a:t>
            </a:fld>
            <a:endParaRPr lang="en-PH"/>
          </a:p>
        </p:txBody>
      </p:sp>
    </p:spTree>
    <p:extLst>
      <p:ext uri="{BB962C8B-B14F-4D97-AF65-F5344CB8AC3E}">
        <p14:creationId xmlns:p14="http://schemas.microsoft.com/office/powerpoint/2010/main" val="2445367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2380D-C4DA-69CD-0E03-EFE8356BF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BA23E-006A-7AB8-C2A9-E3D5E7DB6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51853D-F275-8867-80CB-7271904A0AE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5A295B3E-C787-9C9E-9E35-EEAB5C700533}"/>
              </a:ext>
            </a:extLst>
          </p:cNvPr>
          <p:cNvSpPr>
            <a:spLocks noGrp="1"/>
          </p:cNvSpPr>
          <p:nvPr>
            <p:ph type="sldNum" sz="quarter" idx="5"/>
          </p:nvPr>
        </p:nvSpPr>
        <p:spPr/>
        <p:txBody>
          <a:bodyPr/>
          <a:lstStyle/>
          <a:p>
            <a:fld id="{889AB216-703E-453B-8FEF-77A64385AA89}" type="slidenum">
              <a:rPr lang="en-PH" smtClean="0"/>
              <a:t>6</a:t>
            </a:fld>
            <a:endParaRPr lang="en-PH"/>
          </a:p>
        </p:txBody>
      </p:sp>
    </p:spTree>
    <p:extLst>
      <p:ext uri="{BB962C8B-B14F-4D97-AF65-F5344CB8AC3E}">
        <p14:creationId xmlns:p14="http://schemas.microsoft.com/office/powerpoint/2010/main" val="398168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1" i="0" kern="1200" dirty="0">
                <a:solidFill>
                  <a:schemeClr val="tx1"/>
                </a:solidFill>
                <a:effectLst/>
                <a:latin typeface="+mn-lt"/>
                <a:ea typeface="+mn-ea"/>
                <a:cs typeface="+mn-cs"/>
              </a:rPr>
              <a:t>Module 6.1 - NSPE Code of Ethics for Engineers.pdf:</a:t>
            </a:r>
            <a:r>
              <a:rPr lang="en-PH" sz="1200" b="0" i="0" kern="1200" dirty="0">
                <a:solidFill>
                  <a:schemeClr val="tx1"/>
                </a:solidFill>
                <a:effectLst/>
                <a:latin typeface="+mn-lt"/>
                <a:ea typeface="+mn-ea"/>
                <a:cs typeface="+mn-cs"/>
              </a:rPr>
              <a:t> This module contains the strict mandates prohibiting deceptive acts (Fundamental Canon 5) and the use of false or misleading pretenses to attract engineering talent (Professional Obligations III.1.d). It also establishes the absolute requirement for engineers to continuously engage in engineering practice to maintain their professional development and competence (Professional Obligations III.9.e).</a:t>
            </a:r>
          </a:p>
          <a:p>
            <a:r>
              <a:rPr lang="en-PH" sz="1200" b="1" i="0" kern="1200" dirty="0">
                <a:solidFill>
                  <a:schemeClr val="tx1"/>
                </a:solidFill>
                <a:effectLst/>
                <a:latin typeface="+mn-lt"/>
                <a:ea typeface="+mn-ea"/>
                <a:cs typeface="+mn-cs"/>
              </a:rPr>
              <a:t>Module 6.3 - ABET Code of Ethics.pdf:</a:t>
            </a:r>
            <a:r>
              <a:rPr lang="en-PH" sz="1200" b="0" i="0" kern="1200" dirty="0">
                <a:solidFill>
                  <a:schemeClr val="tx1"/>
                </a:solidFill>
                <a:effectLst/>
                <a:latin typeface="+mn-lt"/>
                <a:ea typeface="+mn-ea"/>
                <a:cs typeface="+mn-cs"/>
              </a:rPr>
              <a:t> This module provides the ABET Suggested Guidelines (specifically Guideline </a:t>
            </a:r>
            <a:r>
              <a:rPr lang="en-PH" sz="1200" b="0" i="1" kern="1200" dirty="0" err="1">
                <a:solidFill>
                  <a:schemeClr val="tx1"/>
                </a:solidFill>
                <a:effectLst/>
                <a:latin typeface="+mn-lt"/>
                <a:ea typeface="+mn-ea"/>
                <a:cs typeface="+mn-cs"/>
              </a:rPr>
              <a:t>i</a:t>
            </a:r>
            <a:r>
              <a:rPr lang="en-PH" sz="1200" b="0" i="0" kern="1200" dirty="0">
                <a:solidFill>
                  <a:schemeClr val="tx1"/>
                </a:solidFill>
                <a:effectLst/>
                <a:latin typeface="+mn-lt"/>
                <a:ea typeface="+mn-ea"/>
                <a:cs typeface="+mn-cs"/>
              </a:rPr>
              <a:t>), which dictate the ethical obligation of employers to provide prospective engineers with complete, truthful information regarding their working conditions and actual employment status. It also reinforces the engineer's duty to continue their professional development throughout their careers (Fundamental Canon 7).</a:t>
            </a:r>
          </a:p>
        </p:txBody>
      </p:sp>
      <p:sp>
        <p:nvSpPr>
          <p:cNvPr id="4" name="Slide Number Placeholder 3"/>
          <p:cNvSpPr>
            <a:spLocks noGrp="1"/>
          </p:cNvSpPr>
          <p:nvPr>
            <p:ph type="sldNum" sz="quarter" idx="5"/>
          </p:nvPr>
        </p:nvSpPr>
        <p:spPr/>
        <p:txBody>
          <a:bodyPr/>
          <a:lstStyle/>
          <a:p>
            <a:fld id="{889AB216-703E-453B-8FEF-77A64385AA89}" type="slidenum">
              <a:rPr lang="en-PH" smtClean="0"/>
              <a:t>7</a:t>
            </a:fld>
            <a:endParaRPr lang="en-PH"/>
          </a:p>
        </p:txBody>
      </p:sp>
    </p:spTree>
    <p:extLst>
      <p:ext uri="{BB962C8B-B14F-4D97-AF65-F5344CB8AC3E}">
        <p14:creationId xmlns:p14="http://schemas.microsoft.com/office/powerpoint/2010/main" val="3312130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99DFC-F086-898C-9980-521B473F1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30CFB-5DBD-B173-8634-65EA005290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E040C-63C6-32D0-7395-73EA1FA5027F}"/>
              </a:ext>
            </a:extLst>
          </p:cNvPr>
          <p:cNvSpPr>
            <a:spLocks noGrp="1"/>
          </p:cNvSpPr>
          <p:nvPr>
            <p:ph type="body" idx="1"/>
          </p:nvPr>
        </p:nvSpPr>
        <p:spPr/>
        <p:txBody>
          <a:bodyPr/>
          <a:lstStyle/>
          <a:p>
            <a:r>
              <a:rPr lang="en-PH" sz="1200" b="1" i="0" kern="1200" dirty="0">
                <a:solidFill>
                  <a:schemeClr val="tx1"/>
                </a:solidFill>
                <a:effectLst/>
                <a:latin typeface="+mn-lt"/>
                <a:ea typeface="+mn-ea"/>
                <a:cs typeface="+mn-cs"/>
              </a:rPr>
              <a:t>Module 6.1 - NSPE Code of Ethics for Engineers.pdf</a:t>
            </a:r>
            <a:r>
              <a:rPr lang="en-PH" sz="1200" b="0" i="0" kern="1200" dirty="0">
                <a:solidFill>
                  <a:schemeClr val="tx1"/>
                </a:solidFill>
                <a:effectLst/>
                <a:latin typeface="+mn-lt"/>
                <a:ea typeface="+mn-ea"/>
                <a:cs typeface="+mn-cs"/>
              </a:rPr>
              <a:t>: This is the primary reference for this scenario. It contains the exact mandates regarding deceptive acts (Fundamental Canon 5), the rules against signing documents not prepared under your direct control (Rules of Practice II.2.b), the obligation to give proper credit to those who did the engineering work (Professional Obligations III.9), and the strict requirement to report violations to the proper authorities (Rules of Practice II.1.f).</a:t>
            </a:r>
          </a:p>
        </p:txBody>
      </p:sp>
      <p:sp>
        <p:nvSpPr>
          <p:cNvPr id="4" name="Slide Number Placeholder 3">
            <a:extLst>
              <a:ext uri="{FF2B5EF4-FFF2-40B4-BE49-F238E27FC236}">
                <a16:creationId xmlns:a16="http://schemas.microsoft.com/office/drawing/2014/main" id="{DE526BC0-095B-10EF-54E6-552D1C57566A}"/>
              </a:ext>
            </a:extLst>
          </p:cNvPr>
          <p:cNvSpPr>
            <a:spLocks noGrp="1"/>
          </p:cNvSpPr>
          <p:nvPr>
            <p:ph type="sldNum" sz="quarter" idx="5"/>
          </p:nvPr>
        </p:nvSpPr>
        <p:spPr/>
        <p:txBody>
          <a:bodyPr/>
          <a:lstStyle/>
          <a:p>
            <a:fld id="{889AB216-703E-453B-8FEF-77A64385AA89}" type="slidenum">
              <a:rPr lang="en-PH" smtClean="0"/>
              <a:t>8</a:t>
            </a:fld>
            <a:endParaRPr lang="en-PH"/>
          </a:p>
        </p:txBody>
      </p:sp>
    </p:spTree>
    <p:extLst>
      <p:ext uri="{BB962C8B-B14F-4D97-AF65-F5344CB8AC3E}">
        <p14:creationId xmlns:p14="http://schemas.microsoft.com/office/powerpoint/2010/main" val="1270116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6D6A-EEEC-0629-70EF-BA1961C54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72F17-83F0-1D42-E94C-6F594AA5D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ACCFA-4A2D-349D-C399-2B8FE34AE391}"/>
              </a:ext>
            </a:extLst>
          </p:cNvPr>
          <p:cNvSpPr>
            <a:spLocks noGrp="1"/>
          </p:cNvSpPr>
          <p:nvPr>
            <p:ph type="body" idx="1"/>
          </p:nvPr>
        </p:nvSpPr>
        <p:spPr/>
        <p:txBody>
          <a:bodyPr/>
          <a:lstStyle/>
          <a:p>
            <a:r>
              <a:rPr lang="en-PH" sz="1200" b="1" i="0" kern="1200" dirty="0">
                <a:solidFill>
                  <a:schemeClr val="tx1"/>
                </a:solidFill>
                <a:effectLst/>
                <a:latin typeface="+mn-lt"/>
                <a:ea typeface="+mn-ea"/>
                <a:cs typeface="+mn-cs"/>
              </a:rPr>
              <a:t>Module 6.3 - ABET Code of Ethics.pdf</a:t>
            </a:r>
            <a:r>
              <a:rPr lang="en-PH" sz="1200" b="0" i="0" kern="1200" dirty="0">
                <a:solidFill>
                  <a:schemeClr val="tx1"/>
                </a:solidFill>
                <a:effectLst/>
                <a:latin typeface="+mn-lt"/>
                <a:ea typeface="+mn-ea"/>
                <a:cs typeface="+mn-cs"/>
              </a:rPr>
              <a:t>: This module serves as the reference for the ABET Suggested Guidelines, specifically the rule that engineers must present information to the proper authorities in writing if they have reason to believe another person or firm is violating ethical provisions.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b="1" i="0" kern="1200" dirty="0">
                <a:solidFill>
                  <a:schemeClr val="tx1"/>
                </a:solidFill>
                <a:effectLst/>
                <a:latin typeface="+mn-lt"/>
                <a:ea typeface="+mn-ea"/>
                <a:cs typeface="+mn-cs"/>
              </a:rPr>
              <a:t>Module 6.2 - Key Concepts in Engineering Ethics.pdf</a:t>
            </a:r>
            <a:r>
              <a:rPr lang="en-PH" sz="1200" b="0" i="0" kern="1200" dirty="0">
                <a:solidFill>
                  <a:schemeClr val="tx1"/>
                </a:solidFill>
                <a:effectLst/>
                <a:latin typeface="+mn-lt"/>
                <a:ea typeface="+mn-ea"/>
                <a:cs typeface="+mn-cs"/>
              </a:rPr>
              <a:t>: This module provides the foundational definitions for navigating workplace disputes, professional responsibility, and the ethical justification for whistleblowing when management is complicit in corruption.</a:t>
            </a:r>
          </a:p>
          <a:p>
            <a:endParaRPr lang="en-PH"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7AB31BA-B23E-C1AC-0043-E008AF52D730}"/>
              </a:ext>
            </a:extLst>
          </p:cNvPr>
          <p:cNvSpPr>
            <a:spLocks noGrp="1"/>
          </p:cNvSpPr>
          <p:nvPr>
            <p:ph type="sldNum" sz="quarter" idx="5"/>
          </p:nvPr>
        </p:nvSpPr>
        <p:spPr/>
        <p:txBody>
          <a:bodyPr/>
          <a:lstStyle/>
          <a:p>
            <a:fld id="{889AB216-703E-453B-8FEF-77A64385AA89}" type="slidenum">
              <a:rPr lang="en-PH" smtClean="0"/>
              <a:t>9</a:t>
            </a:fld>
            <a:endParaRPr lang="en-PH"/>
          </a:p>
        </p:txBody>
      </p:sp>
    </p:spTree>
    <p:extLst>
      <p:ext uri="{BB962C8B-B14F-4D97-AF65-F5344CB8AC3E}">
        <p14:creationId xmlns:p14="http://schemas.microsoft.com/office/powerpoint/2010/main" val="1897154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B48F5-56BE-0231-EEBA-2A4BDAC7D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846B7E-1AF9-90C2-0AA6-862BB370E6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5E41A7-278E-7CC6-5B14-974C7C33B0E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A2F225A-94D2-315F-CB76-7D768BDCF967}"/>
              </a:ext>
            </a:extLst>
          </p:cNvPr>
          <p:cNvSpPr>
            <a:spLocks noGrp="1"/>
          </p:cNvSpPr>
          <p:nvPr>
            <p:ph type="sldNum" sz="quarter" idx="5"/>
          </p:nvPr>
        </p:nvSpPr>
        <p:spPr/>
        <p:txBody>
          <a:bodyPr/>
          <a:lstStyle/>
          <a:p>
            <a:fld id="{889AB216-703E-453B-8FEF-77A64385AA89}" type="slidenum">
              <a:rPr lang="en-PH" smtClean="0"/>
              <a:t>10</a:t>
            </a:fld>
            <a:endParaRPr lang="en-PH"/>
          </a:p>
        </p:txBody>
      </p:sp>
    </p:spTree>
    <p:extLst>
      <p:ext uri="{BB962C8B-B14F-4D97-AF65-F5344CB8AC3E}">
        <p14:creationId xmlns:p14="http://schemas.microsoft.com/office/powerpoint/2010/main" val="2280322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7/4/2026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7/4/2026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7/4/2026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7/4/2026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7/4/2026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7/4/2026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7/4/2026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7/4/2026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7/4/2026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7/4/2026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7/4/2026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7/4/2026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8000" dirty="0"/>
              <a:t>Recitation 4</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err="1">
                <a:solidFill>
                  <a:schemeClr val="tx1">
                    <a:lumMod val="85000"/>
                    <a:lumOff val="15000"/>
                  </a:schemeClr>
                </a:solidFill>
              </a:rPr>
              <a:t>Mexe</a:t>
            </a:r>
            <a:r>
              <a:rPr lang="en-US" dirty="0">
                <a:solidFill>
                  <a:schemeClr val="tx1">
                    <a:lumMod val="85000"/>
                    <a:lumOff val="15000"/>
                  </a:schemeClr>
                </a:solidFill>
              </a:rPr>
              <a:t> 410: Codes, Standards and Professional Ethics for </a:t>
            </a:r>
            <a:r>
              <a:rPr lang="en-US" dirty="0" err="1">
                <a:solidFill>
                  <a:schemeClr val="tx1">
                    <a:lumMod val="85000"/>
                    <a:lumOff val="15000"/>
                  </a:schemeClr>
                </a:solidFill>
              </a:rPr>
              <a:t>MExE</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40762" y="683796"/>
            <a:ext cx="10576978" cy="3892168"/>
          </a:xfrm>
        </p:spPr>
        <p:txBody>
          <a:bodyPr anchor="ctr">
            <a:normAutofit/>
          </a:bodyPr>
          <a:lstStyle/>
          <a:p>
            <a:pPr lvl="0"/>
            <a:r>
              <a:rPr lang="en-PH" dirty="0"/>
              <a:t>" All that glitters is not gold."</a:t>
            </a:r>
            <a:endParaRPr lang="en-US" sz="4800" i="1" dirty="0">
              <a:solidFill>
                <a:srgbClr val="FFFFFF"/>
              </a:solidFill>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066783" y="5259760"/>
            <a:ext cx="10058400" cy="1143000"/>
          </a:xfrm>
        </p:spPr>
        <p:txBody>
          <a:bodyPr>
            <a:normAutofit/>
          </a:bodyPr>
          <a:lstStyle/>
          <a:p>
            <a:r>
              <a:rPr lang="en-PH" dirty="0">
                <a:solidFill>
                  <a:schemeClr val="bg1"/>
                </a:solidFill>
                <a:latin typeface="Calibri" panose="020F0502020204030204" pitchFamily="34" charset="0"/>
                <a:cs typeface="Calibri" panose="020F0502020204030204" pitchFamily="34" charset="0"/>
              </a:rPr>
              <a:t>— </a:t>
            </a:r>
            <a:r>
              <a:rPr lang="en-PH" dirty="0">
                <a:solidFill>
                  <a:schemeClr val="bg1"/>
                </a:solidFill>
              </a:rPr>
              <a:t>William Shakespeare</a:t>
            </a:r>
            <a:endParaRPr lang="en-US"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0373-A383-48A8-587E-6C8659D34A14}"/>
              </a:ext>
            </a:extLst>
          </p:cNvPr>
          <p:cNvSpPr>
            <a:spLocks noGrp="1"/>
          </p:cNvSpPr>
          <p:nvPr>
            <p:ph type="title"/>
          </p:nvPr>
        </p:nvSpPr>
        <p:spPr/>
        <p:txBody>
          <a:bodyPr anchor="ctr">
            <a:normAutofit/>
          </a:bodyPr>
          <a:lstStyle/>
          <a:p>
            <a:pPr algn="ctr"/>
            <a:r>
              <a:rPr lang="en-US" sz="4400" dirty="0"/>
              <a:t>Question to the selected students:</a:t>
            </a:r>
            <a:endParaRPr lang="en-PH" sz="4400" dirty="0"/>
          </a:p>
        </p:txBody>
      </p:sp>
      <p:sp>
        <p:nvSpPr>
          <p:cNvPr id="3" name="Content Placeholder 2">
            <a:extLst>
              <a:ext uri="{FF2B5EF4-FFF2-40B4-BE49-F238E27FC236}">
                <a16:creationId xmlns:a16="http://schemas.microsoft.com/office/drawing/2014/main" id="{5E5CBB8D-39E7-E4A8-C8C9-A3B176447672}"/>
              </a:ext>
            </a:extLst>
          </p:cNvPr>
          <p:cNvSpPr>
            <a:spLocks noGrp="1"/>
          </p:cNvSpPr>
          <p:nvPr>
            <p:ph idx="1"/>
          </p:nvPr>
        </p:nvSpPr>
        <p:spPr>
          <a:xfrm>
            <a:off x="604213" y="1857160"/>
            <a:ext cx="10869628" cy="4373593"/>
          </a:xfrm>
        </p:spPr>
        <p:txBody>
          <a:bodyPr>
            <a:noAutofit/>
          </a:bodyPr>
          <a:lstStyle/>
          <a:p>
            <a:pPr algn="just"/>
            <a:r>
              <a:rPr lang="en-PH" sz="2200" b="1" dirty="0"/>
              <a:t>The Story:</a:t>
            </a:r>
            <a:endParaRPr lang="en-PH" sz="2200" dirty="0"/>
          </a:p>
          <a:p>
            <a:pPr algn="just"/>
            <a:r>
              <a:rPr lang="en-PH" sz="2200" dirty="0"/>
              <a:t>"Imagine you are a fresh Mechatronics Engineering graduate. The pressure to earn money immediately is heavy. You receive a highly attractive job offer from a prominent company, let’s call them '</a:t>
            </a:r>
            <a:r>
              <a:rPr lang="en-PH" sz="2200" dirty="0" err="1"/>
              <a:t>Maswerte</a:t>
            </a:r>
            <a:r>
              <a:rPr lang="en-PH" sz="2200" dirty="0"/>
              <a:t> Ako Corporation.' The job title is “Process Specialist.” The most enticing part? The starting salary they offer is significantly higher than the standard entry-level pay for actual Junior Engineers or Industrial Technicians at other legitimate firms. However, during your orientation, you discover the harsh truth: “Process Specialist” is just a masked, corporate title for a “Process Operator”. You will not be designing systems, programming automated robotics, or analyzing technical data. You are assigned to the lowest rank-and-file position on the production floor, doing purely manual, repetitive tasks. The high salary is deliberately designed as a trap to lure in desperate fresh graduates." </a:t>
            </a:r>
          </a:p>
        </p:txBody>
      </p:sp>
    </p:spTree>
    <p:extLst>
      <p:ext uri="{BB962C8B-B14F-4D97-AF65-F5344CB8AC3E}">
        <p14:creationId xmlns:p14="http://schemas.microsoft.com/office/powerpoint/2010/main" val="3262463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1AF36-354D-2FC3-CB32-93A6E1E0B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B048A-ADC1-157E-BCB4-EC0060FDCA71}"/>
              </a:ext>
            </a:extLst>
          </p:cNvPr>
          <p:cNvSpPr>
            <a:spLocks noGrp="1"/>
          </p:cNvSpPr>
          <p:nvPr>
            <p:ph type="title"/>
          </p:nvPr>
        </p:nvSpPr>
        <p:spPr/>
        <p:txBody>
          <a:bodyPr anchor="ctr">
            <a:normAutofit/>
          </a:bodyPr>
          <a:lstStyle/>
          <a:p>
            <a:pPr algn="ctr"/>
            <a:r>
              <a:rPr lang="en-US" sz="4400" dirty="0"/>
              <a:t>Question to the selected students:</a:t>
            </a:r>
            <a:endParaRPr lang="en-PH" sz="4400" dirty="0"/>
          </a:p>
        </p:txBody>
      </p:sp>
      <p:sp>
        <p:nvSpPr>
          <p:cNvPr id="3" name="Content Placeholder 2">
            <a:extLst>
              <a:ext uri="{FF2B5EF4-FFF2-40B4-BE49-F238E27FC236}">
                <a16:creationId xmlns:a16="http://schemas.microsoft.com/office/drawing/2014/main" id="{97F4A83A-8EE5-5820-C4D2-5426C3A26943}"/>
              </a:ext>
            </a:extLst>
          </p:cNvPr>
          <p:cNvSpPr>
            <a:spLocks noGrp="1"/>
          </p:cNvSpPr>
          <p:nvPr>
            <p:ph idx="1"/>
          </p:nvPr>
        </p:nvSpPr>
        <p:spPr>
          <a:xfrm>
            <a:off x="582480" y="2070103"/>
            <a:ext cx="11027039" cy="4373593"/>
          </a:xfrm>
        </p:spPr>
        <p:txBody>
          <a:bodyPr>
            <a:noAutofit/>
          </a:bodyPr>
          <a:lstStyle/>
          <a:p>
            <a:pPr algn="just"/>
            <a:r>
              <a:rPr lang="en-PH" sz="2400" dirty="0"/>
              <a:t>What will you do with this job offer?</a:t>
            </a:r>
          </a:p>
          <a:p>
            <a:pPr algn="just">
              <a:buFont typeface="Wingdings" panose="05000000000000000000" pitchFamily="2" charset="2"/>
              <a:buChar char="§"/>
            </a:pPr>
            <a:r>
              <a:rPr lang="en-PH" sz="2400" dirty="0"/>
              <a:t> Will you accept the job and stay for the money? (If yes, how do you plan to explain a resume filled with basic operator tasks when you eventually apply for a real engineering promotion?) </a:t>
            </a:r>
          </a:p>
          <a:p>
            <a:pPr algn="just">
              <a:buFont typeface="Wingdings" panose="05000000000000000000" pitchFamily="2" charset="2"/>
              <a:buChar char="§"/>
            </a:pPr>
            <a:r>
              <a:rPr lang="en-PH" sz="2400" dirty="0"/>
              <a:t> Will you resign immediately upon realizing it is an operator role? (If yes, how do you handle the financial pressure and the fear of being unemployed again?)</a:t>
            </a:r>
          </a:p>
          <a:p>
            <a:pPr algn="just">
              <a:buFont typeface="Wingdings" panose="05000000000000000000" pitchFamily="2" charset="2"/>
              <a:buChar char="§"/>
            </a:pPr>
            <a:r>
              <a:rPr lang="en-PH" sz="2400" dirty="0"/>
              <a:t> Will you try to convince the company to give you actual engineering tasks since you have the degree? (If yes, how do you fight a massive corporation that intentionally designed this deceptive hiring system?)</a:t>
            </a:r>
          </a:p>
        </p:txBody>
      </p:sp>
    </p:spTree>
    <p:extLst>
      <p:ext uri="{BB962C8B-B14F-4D97-AF65-F5344CB8AC3E}">
        <p14:creationId xmlns:p14="http://schemas.microsoft.com/office/powerpoint/2010/main" val="2549222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EFB01-55F6-44F3-65A5-1ED742AE73F7}"/>
              </a:ext>
            </a:extLst>
          </p:cNvPr>
          <p:cNvSpPr>
            <a:spLocks noGrp="1"/>
          </p:cNvSpPr>
          <p:nvPr>
            <p:ph type="title"/>
          </p:nvPr>
        </p:nvSpPr>
        <p:spPr/>
        <p:txBody>
          <a:bodyPr anchor="ctr">
            <a:normAutofit/>
          </a:bodyPr>
          <a:lstStyle/>
          <a:p>
            <a:pPr algn="ctr"/>
            <a:r>
              <a:rPr lang="en-US" sz="4400" dirty="0"/>
              <a:t>Question to the selected students:</a:t>
            </a:r>
            <a:endParaRPr lang="en-PH" sz="4400" dirty="0"/>
          </a:p>
        </p:txBody>
      </p:sp>
      <p:sp>
        <p:nvSpPr>
          <p:cNvPr id="3" name="Content Placeholder 2">
            <a:extLst>
              <a:ext uri="{FF2B5EF4-FFF2-40B4-BE49-F238E27FC236}">
                <a16:creationId xmlns:a16="http://schemas.microsoft.com/office/drawing/2014/main" id="{8919335E-3B3A-08CE-E21A-E3CF8C40F316}"/>
              </a:ext>
            </a:extLst>
          </p:cNvPr>
          <p:cNvSpPr>
            <a:spLocks noGrp="1"/>
          </p:cNvSpPr>
          <p:nvPr>
            <p:ph idx="1"/>
          </p:nvPr>
        </p:nvSpPr>
        <p:spPr>
          <a:xfrm>
            <a:off x="1097280" y="1882730"/>
            <a:ext cx="10058400" cy="4505543"/>
          </a:xfrm>
        </p:spPr>
        <p:txBody>
          <a:bodyPr anchor="ctr">
            <a:noAutofit/>
          </a:bodyPr>
          <a:lstStyle/>
          <a:p>
            <a:pPr marL="0" indent="0">
              <a:buNone/>
            </a:pPr>
            <a:r>
              <a:rPr lang="en-PH" sz="1800" dirty="0"/>
              <a:t>"Here is what actually happened to my own graduated students who fell into this exact modus operandi. </a:t>
            </a:r>
          </a:p>
          <a:p>
            <a:pPr>
              <a:buFont typeface="Wingdings" panose="05000000000000000000" pitchFamily="2" charset="2"/>
              <a:buChar char="§"/>
            </a:pPr>
            <a:r>
              <a:rPr lang="en-PH" sz="1800" b="1" dirty="0"/>
              <a:t> Student A: </a:t>
            </a:r>
            <a:r>
              <a:rPr lang="en-PH" sz="1800" dirty="0"/>
              <a:t>was a brilliant female student who excelled in my class. She took the bait for the high salary. After years of repetitive manual labor, she resigned to seek a higher engineering title. But because her actual work history was strictly that of an operator, no engineering firm would hire her as an engineer. The corporate trap worked. Today, she is working in Taiwan, still as an operator. </a:t>
            </a:r>
          </a:p>
          <a:p>
            <a:pPr>
              <a:buFont typeface="Wingdings" panose="05000000000000000000" pitchFamily="2" charset="2"/>
              <a:buChar char="§"/>
            </a:pPr>
            <a:r>
              <a:rPr lang="en-PH" sz="1800" dirty="0"/>
              <a:t> </a:t>
            </a:r>
            <a:r>
              <a:rPr lang="en-PH" sz="1800" b="1" dirty="0"/>
              <a:t>Student B: </a:t>
            </a:r>
            <a:r>
              <a:rPr lang="en-PH" sz="1800" dirty="0"/>
              <a:t>was a male student who took the job but immediately realized his industrial utility and technical skills were rotting. He resigned very early, sacrificing the high pay. Because he didn't let the operator title stain his resume for too long, he successfully pivoted and secured a legitimate Project and Research Engineering position at our University’s Research Institute. He is deeply thankful he escaped.</a:t>
            </a:r>
          </a:p>
          <a:p>
            <a:pPr>
              <a:buFont typeface="Wingdings" panose="05000000000000000000" pitchFamily="2" charset="2"/>
              <a:buChar char="§"/>
            </a:pPr>
            <a:r>
              <a:rPr lang="en-PH" sz="1800" dirty="0"/>
              <a:t> </a:t>
            </a:r>
            <a:r>
              <a:rPr lang="en-PH" sz="1800" b="1" dirty="0"/>
              <a:t>The Others: </a:t>
            </a:r>
            <a:r>
              <a:rPr lang="en-PH" sz="1800" dirty="0"/>
              <a:t>I also had students who rejected </a:t>
            </a:r>
            <a:r>
              <a:rPr lang="en-PH" sz="1800" dirty="0" err="1"/>
              <a:t>Maswerte</a:t>
            </a:r>
            <a:r>
              <a:rPr lang="en-PH" sz="1800" dirty="0"/>
              <a:t> Ako Corporation entirely. They waited. They accepted lower-paying, but legitimate, engineering jobs. Today, their careers are advancing rapidly because their foundations were built on actual engineering experience."</a:t>
            </a:r>
          </a:p>
        </p:txBody>
      </p:sp>
    </p:spTree>
    <p:extLst>
      <p:ext uri="{BB962C8B-B14F-4D97-AF65-F5344CB8AC3E}">
        <p14:creationId xmlns:p14="http://schemas.microsoft.com/office/powerpoint/2010/main" val="2918232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6A573-A75B-273E-1A3F-41E852B85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57764-5E52-0747-8AFD-B4D9D5B45F66}"/>
              </a:ext>
            </a:extLst>
          </p:cNvPr>
          <p:cNvSpPr>
            <a:spLocks noGrp="1"/>
          </p:cNvSpPr>
          <p:nvPr>
            <p:ph type="title"/>
          </p:nvPr>
        </p:nvSpPr>
        <p:spPr>
          <a:xfrm>
            <a:off x="914400" y="286603"/>
            <a:ext cx="10241280" cy="1450757"/>
          </a:xfrm>
        </p:spPr>
        <p:txBody>
          <a:bodyPr anchor="ctr"/>
          <a:lstStyle/>
          <a:p>
            <a:pPr algn="ctr"/>
            <a:r>
              <a:rPr lang="en-US" dirty="0"/>
              <a:t>Question </a:t>
            </a:r>
            <a:r>
              <a:rPr lang="en-PH" dirty="0"/>
              <a:t>for the Rest of the Class </a:t>
            </a:r>
            <a:r>
              <a:rPr lang="en-US" dirty="0"/>
              <a:t>:</a:t>
            </a:r>
            <a:endParaRPr lang="en-PH" dirty="0"/>
          </a:p>
        </p:txBody>
      </p:sp>
      <p:sp>
        <p:nvSpPr>
          <p:cNvPr id="3" name="Content Placeholder 2">
            <a:extLst>
              <a:ext uri="{FF2B5EF4-FFF2-40B4-BE49-F238E27FC236}">
                <a16:creationId xmlns:a16="http://schemas.microsoft.com/office/drawing/2014/main" id="{9CE0D318-D7D2-4571-091D-0961DCBC6FE4}"/>
              </a:ext>
            </a:extLst>
          </p:cNvPr>
          <p:cNvSpPr>
            <a:spLocks noGrp="1"/>
          </p:cNvSpPr>
          <p:nvPr>
            <p:ph idx="1"/>
          </p:nvPr>
        </p:nvSpPr>
        <p:spPr>
          <a:xfrm>
            <a:off x="1097280" y="1872343"/>
            <a:ext cx="10058400" cy="4572000"/>
          </a:xfrm>
        </p:spPr>
        <p:txBody>
          <a:bodyPr>
            <a:normAutofit fontScale="92500" lnSpcReduction="20000"/>
          </a:bodyPr>
          <a:lstStyle/>
          <a:p>
            <a:pPr algn="just"/>
            <a:r>
              <a:rPr lang="en-PH" sz="2400" b="1" dirty="0"/>
              <a:t>POV 1: The '</a:t>
            </a:r>
            <a:r>
              <a:rPr lang="en-PH" sz="2400" b="1" dirty="0" err="1"/>
              <a:t>Maswerte</a:t>
            </a:r>
            <a:r>
              <a:rPr lang="en-PH" sz="2400" b="1" dirty="0"/>
              <a:t> Ako' HR Department. </a:t>
            </a:r>
          </a:p>
          <a:p>
            <a:pPr algn="just"/>
            <a:r>
              <a:rPr lang="en-PH" sz="2400" i="1" dirty="0"/>
              <a:t>Question:</a:t>
            </a:r>
            <a:r>
              <a:rPr lang="en-PH" sz="2400" dirty="0"/>
              <a:t> Is it an ethical business practice to exploit the financial desperation of fresh graduates by masking rank-and-file labor with a fabricated "Specialist" title? </a:t>
            </a:r>
          </a:p>
          <a:p>
            <a:pPr algn="just"/>
            <a:r>
              <a:rPr lang="en-PH" sz="2400" b="1" dirty="0"/>
              <a:t>POV 2: Student A (The Top Performer).</a:t>
            </a:r>
          </a:p>
          <a:p>
            <a:pPr algn="just"/>
            <a:r>
              <a:rPr lang="en-PH" sz="2400" i="1" dirty="0"/>
              <a:t>Question:</a:t>
            </a:r>
            <a:r>
              <a:rPr lang="en-PH" sz="2400" dirty="0"/>
              <a:t> Was it her fault for prioritizing immediate financial gain, or is the corporation entirely to blame for artificially inflating the salary to destroy her long-term career trajectory? </a:t>
            </a:r>
          </a:p>
          <a:p>
            <a:pPr algn="just"/>
            <a:r>
              <a:rPr lang="en-PH" sz="2400" b="1" dirty="0"/>
              <a:t>POV 3: The Professional Mechatronics Engineer.</a:t>
            </a:r>
            <a:endParaRPr lang="en-PH" sz="2400" dirty="0"/>
          </a:p>
          <a:p>
            <a:pPr algn="just"/>
            <a:r>
              <a:rPr lang="en-PH" sz="2400" i="1" dirty="0"/>
              <a:t>Question:</a:t>
            </a:r>
            <a:r>
              <a:rPr lang="en-PH" sz="2400" dirty="0"/>
              <a:t> Look at this through the lens of career integrity. What is the fundamental difference between an engineer who designs a machine and an operator who simply pushes its buttons? Can an engineer ever ethically justify settling for the latter? </a:t>
            </a:r>
          </a:p>
        </p:txBody>
      </p:sp>
    </p:spTree>
    <p:extLst>
      <p:ext uri="{BB962C8B-B14F-4D97-AF65-F5344CB8AC3E}">
        <p14:creationId xmlns:p14="http://schemas.microsoft.com/office/powerpoint/2010/main" val="3993865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1CD7-6840-12B1-E3EE-EC91300A79DB}"/>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03AA1FD6-712A-D621-8E39-AA0437AD2FBF}"/>
              </a:ext>
            </a:extLst>
          </p:cNvPr>
          <p:cNvSpPr>
            <a:spLocks noGrp="1"/>
          </p:cNvSpPr>
          <p:nvPr>
            <p:ph idx="1"/>
          </p:nvPr>
        </p:nvSpPr>
        <p:spPr>
          <a:xfrm>
            <a:off x="1097280" y="2108201"/>
            <a:ext cx="10058400" cy="4463196"/>
          </a:xfrm>
        </p:spPr>
        <p:txBody>
          <a:bodyPr>
            <a:normAutofit fontScale="85000" lnSpcReduction="20000"/>
          </a:bodyPr>
          <a:lstStyle/>
          <a:p>
            <a:pPr algn="just"/>
            <a:r>
              <a:rPr lang="en-PH" sz="2800" b="1" dirty="0"/>
              <a:t>ABET Suggested Guidelines: Deception in Employment Status </a:t>
            </a:r>
          </a:p>
          <a:p>
            <a:pPr algn="just">
              <a:buFont typeface="Wingdings" panose="05000000000000000000" pitchFamily="2" charset="2"/>
              <a:buChar char="§"/>
            </a:pPr>
            <a:r>
              <a:rPr lang="en-PH" sz="2800" dirty="0"/>
              <a:t> The act of the company luring a graduate with the title "Process Specialist" when the actual job is a manual "Process Operator" is a direct violation of the rules governing recruitment transparency. </a:t>
            </a:r>
          </a:p>
          <a:p>
            <a:pPr algn="just">
              <a:buFont typeface="Wingdings" panose="05000000000000000000" pitchFamily="2" charset="2"/>
              <a:buChar char="§"/>
            </a:pPr>
            <a:r>
              <a:rPr lang="en-PH" sz="2800" dirty="0"/>
              <a:t> </a:t>
            </a:r>
            <a:r>
              <a:rPr lang="en-PH" sz="2800" b="1" dirty="0"/>
              <a:t>ABET Code of Ethics (Suggested Guidelines </a:t>
            </a:r>
            <a:r>
              <a:rPr lang="en-PH" sz="2800" b="1" dirty="0" err="1"/>
              <a:t>i</a:t>
            </a:r>
            <a:r>
              <a:rPr lang="en-PH" sz="2800" b="1" dirty="0"/>
              <a:t>): </a:t>
            </a:r>
            <a:r>
              <a:rPr lang="en-PH" sz="2800" dirty="0"/>
              <a:t>"Engineers shall provide prospective engineering employees with complete information on working conditions and their proposed status of employment, and after employment shall keep them informed of any changes.“</a:t>
            </a:r>
          </a:p>
          <a:p>
            <a:pPr algn="just">
              <a:buFont typeface="Wingdings" panose="05000000000000000000" pitchFamily="2" charset="2"/>
              <a:buChar char="§"/>
            </a:pPr>
            <a:r>
              <a:rPr lang="en-PH" sz="2800" dirty="0"/>
              <a:t> By masking a rank-and-file operator position under a deceptive title and high salary, the hiring managers failed to provide complete and truthful information about the proposed status of employment.</a:t>
            </a:r>
            <a:endParaRPr lang="en-PH" sz="2800" b="1" dirty="0"/>
          </a:p>
        </p:txBody>
      </p:sp>
    </p:spTree>
    <p:extLst>
      <p:ext uri="{BB962C8B-B14F-4D97-AF65-F5344CB8AC3E}">
        <p14:creationId xmlns:p14="http://schemas.microsoft.com/office/powerpoint/2010/main" val="3530586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56CF3-BF6D-D7B0-1B3E-BD35C9771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EE162-E34A-E73E-8428-AE62C0B8FE9C}"/>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7D6581A8-27DB-6EBF-77C9-7E1D61F3D28E}"/>
              </a:ext>
            </a:extLst>
          </p:cNvPr>
          <p:cNvSpPr>
            <a:spLocks noGrp="1"/>
          </p:cNvSpPr>
          <p:nvPr>
            <p:ph idx="1"/>
          </p:nvPr>
        </p:nvSpPr>
        <p:spPr>
          <a:xfrm>
            <a:off x="426720" y="1915886"/>
            <a:ext cx="11521440" cy="4458787"/>
          </a:xfrm>
        </p:spPr>
        <p:txBody>
          <a:bodyPr>
            <a:normAutofit fontScale="77500" lnSpcReduction="20000"/>
          </a:bodyPr>
          <a:lstStyle/>
          <a:p>
            <a:pPr marL="0" indent="0">
              <a:buNone/>
            </a:pPr>
            <a:r>
              <a:rPr lang="en-PH" sz="3200" b="1" dirty="0"/>
              <a:t>NSPE Code of Ethics: Deceptive Acts and Misleading Pretenses </a:t>
            </a:r>
          </a:p>
          <a:p>
            <a:pPr>
              <a:buFont typeface="Wingdings" panose="05000000000000000000" pitchFamily="2" charset="2"/>
              <a:buChar char="§"/>
            </a:pPr>
            <a:r>
              <a:rPr lang="en-PH" sz="3200" dirty="0"/>
              <a:t> The NSPE Code strictly prohibits engineers and engineering managers from utilizing deception to secure resources, including human labor. </a:t>
            </a:r>
          </a:p>
          <a:p>
            <a:pPr>
              <a:buFont typeface="Wingdings" panose="05000000000000000000" pitchFamily="2" charset="2"/>
              <a:buChar char="§"/>
            </a:pPr>
            <a:r>
              <a:rPr lang="en-PH" sz="3200" dirty="0"/>
              <a:t> </a:t>
            </a:r>
            <a:r>
              <a:rPr lang="en-PH" sz="3200" b="1" dirty="0"/>
              <a:t>NSPE Fundamental Canon 5: </a:t>
            </a:r>
            <a:r>
              <a:rPr lang="en-PH" sz="3200" dirty="0"/>
              <a:t>"Avoid deceptive acts.“</a:t>
            </a:r>
          </a:p>
          <a:p>
            <a:pPr>
              <a:buFont typeface="Wingdings" panose="05000000000000000000" pitchFamily="2" charset="2"/>
              <a:buChar char="§"/>
            </a:pPr>
            <a:r>
              <a:rPr lang="en-PH" sz="3200" dirty="0"/>
              <a:t> </a:t>
            </a:r>
            <a:r>
              <a:rPr lang="en-PH" sz="3200" b="1" dirty="0"/>
              <a:t>NSPE Professional Obligations III.1.d: </a:t>
            </a:r>
            <a:r>
              <a:rPr lang="en-PH" sz="3200" dirty="0"/>
              <a:t>"Engineers shall not attempt to attract an engineer from another employer by false or misleading pretenses.“</a:t>
            </a:r>
          </a:p>
          <a:p>
            <a:pPr>
              <a:buFont typeface="Wingdings" panose="05000000000000000000" pitchFamily="2" charset="2"/>
              <a:buChar char="§"/>
            </a:pPr>
            <a:r>
              <a:rPr lang="en-PH" sz="3200" dirty="0"/>
              <a:t> While this specific clause mentions "from another employer," the foundational ethical constraint prohibits the use of bait-and-switch tactics or misleading pretenses to attract engineering talent from any source, including fresh graduates.</a:t>
            </a:r>
            <a:endParaRPr lang="en-PH" sz="3200" b="1"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6BCA511-BC77-50AC-4D89-C5E439FA9E46}"/>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B6BCA511-BC77-50AC-4D89-C5E439FA9E46}"/>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428003C-45F4-A184-869B-E4AC102D5050}"/>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4428003C-45F4-A184-869B-E4AC102D5050}"/>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3482393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BA242-1854-2198-D67E-99066762E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B865C-405E-5D65-CB0A-C423770FE7F1}"/>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A6F5226A-669E-7DF4-A7E3-128FF4B96D89}"/>
              </a:ext>
            </a:extLst>
          </p:cNvPr>
          <p:cNvSpPr>
            <a:spLocks noGrp="1"/>
          </p:cNvSpPr>
          <p:nvPr>
            <p:ph idx="1"/>
          </p:nvPr>
        </p:nvSpPr>
        <p:spPr>
          <a:xfrm>
            <a:off x="335280" y="1402916"/>
            <a:ext cx="11521440" cy="4989956"/>
          </a:xfrm>
        </p:spPr>
        <p:txBody>
          <a:bodyPr>
            <a:normAutofit fontScale="92500" lnSpcReduction="20000"/>
          </a:bodyPr>
          <a:lstStyle/>
          <a:p>
            <a:pPr marL="0" indent="0">
              <a:buNone/>
            </a:pPr>
            <a:endParaRPr lang="en-PH" sz="2400" b="1" dirty="0"/>
          </a:p>
          <a:p>
            <a:pPr marL="0" indent="0">
              <a:buNone/>
            </a:pPr>
            <a:r>
              <a:rPr lang="en-PH" sz="2400" b="1" dirty="0"/>
              <a:t>The Obligation of Professional Development (Why Student A Failed) </a:t>
            </a:r>
          </a:p>
          <a:p>
            <a:pPr>
              <a:buFont typeface="Wingdings" panose="05000000000000000000" pitchFamily="2" charset="2"/>
              <a:buChar char="§"/>
            </a:pPr>
            <a:r>
              <a:rPr lang="en-PH" sz="2400" b="1" dirty="0"/>
              <a:t> </a:t>
            </a:r>
            <a:r>
              <a:rPr lang="en-PH" sz="2400" dirty="0"/>
              <a:t>The story illustrates that accepting the high-paying operator role caused the graduate's technical skills to "rot," permanently damaging their career. This touches on a mandatory obligation for the engineer themselves. </a:t>
            </a:r>
          </a:p>
          <a:p>
            <a:pPr>
              <a:buFont typeface="Wingdings" panose="05000000000000000000" pitchFamily="2" charset="2"/>
              <a:buChar char="§"/>
            </a:pPr>
            <a:r>
              <a:rPr lang="en-PH" sz="2400" dirty="0"/>
              <a:t> </a:t>
            </a:r>
            <a:r>
              <a:rPr lang="en-PH" sz="2400" b="1" dirty="0"/>
              <a:t>NSPE Professional Obligations III.9.e: </a:t>
            </a:r>
            <a:r>
              <a:rPr lang="en-PH" sz="2400" dirty="0"/>
              <a:t>"Engineers shall continue their professional development throughout their careers and should keep current in their specialty fields by engaging in professional practice...“</a:t>
            </a:r>
          </a:p>
          <a:p>
            <a:pPr>
              <a:buFont typeface="Wingdings" panose="05000000000000000000" pitchFamily="2" charset="2"/>
              <a:buChar char="§"/>
            </a:pPr>
            <a:r>
              <a:rPr lang="en-PH" sz="2400" dirty="0"/>
              <a:t> </a:t>
            </a:r>
            <a:r>
              <a:rPr lang="en-PH" sz="2400" b="1" dirty="0"/>
              <a:t>ABET Fundamental Canon 7: </a:t>
            </a:r>
            <a:r>
              <a:rPr lang="en-PH" sz="2400" dirty="0"/>
              <a:t>"Engineers shall continue their professional development throughout their careers...“</a:t>
            </a:r>
          </a:p>
          <a:p>
            <a:pPr>
              <a:buFont typeface="Wingdings" panose="05000000000000000000" pitchFamily="2" charset="2"/>
              <a:buChar char="§"/>
            </a:pPr>
            <a:r>
              <a:rPr lang="en-PH" sz="2400" dirty="0"/>
              <a:t>Because the manual labor role involves no actual engineering practice (e.g., designing systems, analyzing technical data), staying in that role violates the engineer's ethical duty to maintain their professional skills at the level of the state of the art. </a:t>
            </a:r>
            <a:endParaRPr lang="en-PH" sz="2400" b="1"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FAC37EB-122E-8FB0-F5D7-06EF2D935901}"/>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3FAC37EB-122E-8FB0-F5D7-06EF2D935901}"/>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9E47FB35-0948-E3F3-3A1A-5545872B0DC0}"/>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9E47FB35-0948-E3F3-3A1A-5545872B0DC0}"/>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756329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649FA-9E15-82D8-C679-A4AAFB4C8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33A42-2BFC-662D-65BB-35157D2F5A1F}"/>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A49CD460-BF9F-D639-4186-0AC46E92F933}"/>
              </a:ext>
            </a:extLst>
          </p:cNvPr>
          <p:cNvSpPr>
            <a:spLocks noGrp="1"/>
          </p:cNvSpPr>
          <p:nvPr>
            <p:ph idx="1"/>
          </p:nvPr>
        </p:nvSpPr>
        <p:spPr>
          <a:xfrm>
            <a:off x="426720" y="1915886"/>
            <a:ext cx="11521440" cy="4458787"/>
          </a:xfrm>
        </p:spPr>
        <p:txBody>
          <a:bodyPr>
            <a:normAutofit fontScale="85000" lnSpcReduction="10000"/>
          </a:bodyPr>
          <a:lstStyle/>
          <a:p>
            <a:pPr marL="0" indent="0">
              <a:buNone/>
            </a:pPr>
            <a:r>
              <a:rPr lang="en-PH" sz="3200" b="1" dirty="0"/>
              <a:t>The Professional Judgment </a:t>
            </a:r>
          </a:p>
          <a:p>
            <a:pPr marL="0" indent="0" algn="just">
              <a:buNone/>
            </a:pPr>
            <a:r>
              <a:rPr lang="en-PH" sz="3200" dirty="0"/>
              <a:t>According to the codes, a high starting salary does not justify participating in a deceptive employment scheme or abandoning your technical competency. The hiring company committed a severe ethical violation by failing to provide complete information on the true working conditions and employment status. However, the young engineer also has a strict professional obligation to continue their professional development and engage in actual engineering practice. Therefore, Student B made the only professionally compliant choice: resigning early to escape the deceptive trap and secure a legitimate role that allowed for true engineering development.</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5A1E50A-9F66-5F35-8C5C-DDA901BB57A8}"/>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AE9F8EB4-6806-45CF-0BA0-08F98791AF81}"/>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9248112-7800-679D-8AB6-E1E3FC35CF6B}"/>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3C367349-8A86-B690-A4A1-E0EE08E69868}"/>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624950483"/>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purl.org/dc/dcmitype/"/>
    <ds:schemaRef ds:uri="http://schemas.microsoft.com/office/2006/metadata/properties"/>
    <ds:schemaRef ds:uri="http://schemas.microsoft.com/office/infopath/2007/PartnerControls"/>
    <ds:schemaRef ds:uri="http://www.w3.org/XML/1998/namespace"/>
    <ds:schemaRef ds:uri="71af3243-3dd4-4a8d-8c0d-dd76da1f02a5"/>
    <ds:schemaRef ds:uri="http://purl.org/dc/elements/1.1/"/>
    <ds:schemaRef ds:uri="http://schemas.microsoft.com/office/2006/documentManagement/types"/>
    <ds:schemaRef ds:uri="http://purl.org/dc/terms/"/>
    <ds:schemaRef ds:uri="http://schemas.openxmlformats.org/package/2006/metadata/core-properties"/>
    <ds:schemaRef ds:uri="230e9df3-be65-4c73-a93b-d1236ebd677e"/>
    <ds:schemaRef ds:uri="16c05727-aa75-4e4a-9b5f-8a80a1165891"/>
    <ds:schemaRef ds:uri="http://schemas.microsoft.com/sharepoint/v3"/>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{EDCC2E50-673F-4CBE-8601-0398BB606B68}TFf0a5ceae-4542-492d-822e-d65a94fb0e1e3b562c5a_win32-009a0557e699</Template>
  <TotalTime>795</TotalTime>
  <Words>1497</Words>
  <Application>Microsoft Office PowerPoint</Application>
  <PresentationFormat>Widescreen</PresentationFormat>
  <Paragraphs>58</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Bookman Old Style</vt:lpstr>
      <vt:lpstr>Calibri</vt:lpstr>
      <vt:lpstr>Franklin Gothic Book</vt:lpstr>
      <vt:lpstr>Wingdings</vt:lpstr>
      <vt:lpstr>Custom</vt:lpstr>
      <vt:lpstr>Recitation 4</vt:lpstr>
      <vt:lpstr>" All that glitters is not gold."</vt:lpstr>
      <vt:lpstr>Question to the selected students:</vt:lpstr>
      <vt:lpstr>Question to the selected students:</vt:lpstr>
      <vt:lpstr>Question to the selected students:</vt:lpstr>
      <vt:lpstr>Question for the Rest of the Class :</vt:lpstr>
      <vt:lpstr>The Core Lesson</vt:lpstr>
      <vt:lpstr>The Core Lesson</vt:lpstr>
      <vt:lpstr>The Core Lesson</vt:lpstr>
      <vt:lpstr>The Core Lesson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Mikko De Torres</dc:creator>
  <cp:lastModifiedBy>Mikko De Torres</cp:lastModifiedBy>
  <cp:revision>15</cp:revision>
  <cp:lastPrinted>2026-06-19T23:14:53Z</cp:lastPrinted>
  <dcterms:created xsi:type="dcterms:W3CDTF">2026-06-18T04:49:44Z</dcterms:created>
  <dcterms:modified xsi:type="dcterms:W3CDTF">2026-07-04T03:03:23Z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
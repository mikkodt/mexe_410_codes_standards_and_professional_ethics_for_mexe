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notesSlides/notesSlide7.xml" ContentType="application/vnd.openxmlformats-officedocument.presentationml.notesSlide+xml"/>
  <Override PartName="/ppt/ink/ink3.xml" ContentType="application/inkml+xml"/>
  <Override PartName="/ppt/ink/ink4.xml" ContentType="application/inkml+xml"/>
  <Override PartName="/ppt/notesSlides/notesSlide8.xml" ContentType="application/vnd.openxmlformats-officedocument.presentationml.notesSlide+xml"/>
  <Override PartName="/ppt/ink/ink5.xml" ContentType="application/inkml+xml"/>
  <Override PartName="/ppt/ink/ink6.xml" ContentType="application/inkml+xml"/>
  <Override PartName="/ppt/notesSlides/notesSlide9.xml" ContentType="application/vnd.openxmlformats-officedocument.presentationml.notesSlide+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16"/>
  </p:notesMasterIdLst>
  <p:sldIdLst>
    <p:sldId id="257" r:id="rId5"/>
    <p:sldId id="258" r:id="rId6"/>
    <p:sldId id="259" r:id="rId7"/>
    <p:sldId id="261" r:id="rId8"/>
    <p:sldId id="260" r:id="rId9"/>
    <p:sldId id="262" r:id="rId10"/>
    <p:sldId id="263" r:id="rId11"/>
    <p:sldId id="264" r:id="rId12"/>
    <p:sldId id="265" r:id="rId13"/>
    <p:sldId id="266" r:id="rId14"/>
    <p:sldId id="267" r:id="rId15"/>
  </p:sldIdLst>
  <p:sldSz cx="12192000" cy="6858000"/>
  <p:notesSz cx="6888163"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1" autoAdjust="0"/>
    <p:restoredTop sz="94613" autoAdjust="0"/>
  </p:normalViewPr>
  <p:slideViewPr>
    <p:cSldViewPr snapToGrid="0">
      <p:cViewPr varScale="1">
        <p:scale>
          <a:sx n="73" d="100"/>
          <a:sy n="73" d="100"/>
        </p:scale>
        <p:origin x="1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35.909"/>
    </inkml:context>
    <inkml:brush xml:id="br0">
      <inkml:brushProperty name="width" value="0.1" units="cm"/>
      <inkml:brushProperty name="height" value="0.1" units="cm"/>
      <inkml:brushProperty name="color" value="#008C3A"/>
    </inkml:brush>
  </inkml:definitions>
  <inkml:trace contextRef="#ctx0" brushRef="#br0">1 29 6553,'0'-5'0,"4"0"241,10-4-248,2-1 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8T08:51:41.038"/>
    </inkml:context>
    <inkml:brush xml:id="br0">
      <inkml:brushProperty name="width" value="0.1" units="cm"/>
      <inkml:brushProperty name="height" value="0.1" units="cm"/>
      <inkml:brushProperty name="color" value="#008C3A"/>
    </inkml:brush>
  </inkml:definitions>
  <inkml:trace contextRef="#ctx0" brushRef="#br0">1 0 6553,'8'0'481,"3"0"-481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2676"/>
          </a:xfrm>
          <a:prstGeom prst="rect">
            <a:avLst/>
          </a:prstGeom>
        </p:spPr>
        <p:txBody>
          <a:bodyPr vert="horz" lIns="96606" tIns="48303" rIns="96606" bIns="48303" rtlCol="0"/>
          <a:lstStyle>
            <a:lvl1pPr algn="l">
              <a:defRPr sz="1300"/>
            </a:lvl1pPr>
          </a:lstStyle>
          <a:p>
            <a:endParaRPr lang="en-PH"/>
          </a:p>
        </p:txBody>
      </p:sp>
      <p:sp>
        <p:nvSpPr>
          <p:cNvPr id="3" name="Date Placeholder 2"/>
          <p:cNvSpPr>
            <a:spLocks noGrp="1"/>
          </p:cNvSpPr>
          <p:nvPr>
            <p:ph type="dt" idx="1"/>
          </p:nvPr>
        </p:nvSpPr>
        <p:spPr>
          <a:xfrm>
            <a:off x="3901698" y="0"/>
            <a:ext cx="2984871" cy="502676"/>
          </a:xfrm>
          <a:prstGeom prst="rect">
            <a:avLst/>
          </a:prstGeom>
        </p:spPr>
        <p:txBody>
          <a:bodyPr vert="horz" lIns="96606" tIns="48303" rIns="96606" bIns="48303" rtlCol="0"/>
          <a:lstStyle>
            <a:lvl1pPr algn="r">
              <a:defRPr sz="1300"/>
            </a:lvl1pPr>
          </a:lstStyle>
          <a:p>
            <a:fld id="{53FA57CA-15DA-4E3C-8ACC-DFD5341A9866}" type="datetimeFigureOut">
              <a:rPr lang="en-PH" smtClean="0"/>
              <a:t>04/07/2026</a:t>
            </a:fld>
            <a:endParaRPr lang="en-PH"/>
          </a:p>
        </p:txBody>
      </p:sp>
      <p:sp>
        <p:nvSpPr>
          <p:cNvPr id="4" name="Slide Image Placeholder 3"/>
          <p:cNvSpPr>
            <a:spLocks noGrp="1" noRot="1" noChangeAspect="1"/>
          </p:cNvSpPr>
          <p:nvPr>
            <p:ph type="sldImg" idx="2"/>
          </p:nvPr>
        </p:nvSpPr>
        <p:spPr>
          <a:xfrm>
            <a:off x="439738" y="1252538"/>
            <a:ext cx="6008687" cy="3381375"/>
          </a:xfrm>
          <a:prstGeom prst="rect">
            <a:avLst/>
          </a:prstGeom>
          <a:noFill/>
          <a:ln w="12700">
            <a:solidFill>
              <a:prstClr val="black"/>
            </a:solidFill>
          </a:ln>
        </p:spPr>
        <p:txBody>
          <a:bodyPr vert="horz" lIns="96606" tIns="48303" rIns="96606" bIns="48303" rtlCol="0" anchor="ctr"/>
          <a:lstStyle/>
          <a:p>
            <a:endParaRPr lang="en-PH"/>
          </a:p>
        </p:txBody>
      </p:sp>
      <p:sp>
        <p:nvSpPr>
          <p:cNvPr id="5" name="Notes Placeholder 4"/>
          <p:cNvSpPr>
            <a:spLocks noGrp="1"/>
          </p:cNvSpPr>
          <p:nvPr>
            <p:ph type="body" sz="quarter" idx="3"/>
          </p:nvPr>
        </p:nvSpPr>
        <p:spPr>
          <a:xfrm>
            <a:off x="688817" y="4821506"/>
            <a:ext cx="5510530" cy="3944868"/>
          </a:xfrm>
          <a:prstGeom prst="rect">
            <a:avLst/>
          </a:prstGeom>
        </p:spPr>
        <p:txBody>
          <a:bodyPr vert="horz" lIns="96606" tIns="48303" rIns="96606" bIns="4830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9516039"/>
            <a:ext cx="2984871" cy="502674"/>
          </a:xfrm>
          <a:prstGeom prst="rect">
            <a:avLst/>
          </a:prstGeom>
        </p:spPr>
        <p:txBody>
          <a:bodyPr vert="horz" lIns="96606" tIns="48303" rIns="96606" bIns="48303" rtlCol="0" anchor="b"/>
          <a:lstStyle>
            <a:lvl1pPr algn="l">
              <a:defRPr sz="1300"/>
            </a:lvl1pPr>
          </a:lstStyle>
          <a:p>
            <a:endParaRPr lang="en-PH"/>
          </a:p>
        </p:txBody>
      </p:sp>
      <p:sp>
        <p:nvSpPr>
          <p:cNvPr id="7" name="Slide Number Placeholder 6"/>
          <p:cNvSpPr>
            <a:spLocks noGrp="1"/>
          </p:cNvSpPr>
          <p:nvPr>
            <p:ph type="sldNum" sz="quarter" idx="5"/>
          </p:nvPr>
        </p:nvSpPr>
        <p:spPr>
          <a:xfrm>
            <a:off x="3901698" y="9516039"/>
            <a:ext cx="2984871" cy="502674"/>
          </a:xfrm>
          <a:prstGeom prst="rect">
            <a:avLst/>
          </a:prstGeom>
        </p:spPr>
        <p:txBody>
          <a:bodyPr vert="horz" lIns="96606" tIns="48303" rIns="96606" bIns="48303" rtlCol="0" anchor="b"/>
          <a:lstStyle>
            <a:lvl1pPr algn="r">
              <a:defRPr sz="1300"/>
            </a:lvl1pPr>
          </a:lstStyle>
          <a:p>
            <a:fld id="{889AB216-703E-453B-8FEF-77A64385AA89}" type="slidenum">
              <a:rPr lang="en-PH" smtClean="0"/>
              <a:t>‹#›</a:t>
            </a:fld>
            <a:endParaRPr lang="en-PH"/>
          </a:p>
        </p:txBody>
      </p:sp>
    </p:spTree>
    <p:extLst>
      <p:ext uri="{BB962C8B-B14F-4D97-AF65-F5344CB8AC3E}">
        <p14:creationId xmlns:p14="http://schemas.microsoft.com/office/powerpoint/2010/main" val="24082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3</a:t>
            </a:fld>
            <a:endParaRPr lang="en-PH"/>
          </a:p>
        </p:txBody>
      </p:sp>
    </p:spTree>
    <p:extLst>
      <p:ext uri="{BB962C8B-B14F-4D97-AF65-F5344CB8AC3E}">
        <p14:creationId xmlns:p14="http://schemas.microsoft.com/office/powerpoint/2010/main" val="226501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064">
              <a:defRPr/>
            </a:pPr>
            <a:r>
              <a:rPr lang="en-PH" sz="1300" b="1" dirty="0"/>
              <a:t>The Questions for Group 1 (The Fresh Grad POV):</a:t>
            </a:r>
            <a:r>
              <a:rPr lang="en-PH" sz="1300" dirty="0"/>
              <a:t> You must force them to choose one of these three options and defend it:</a:t>
            </a:r>
          </a:p>
          <a:p>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4</a:t>
            </a:fld>
            <a:endParaRPr lang="en-PH"/>
          </a:p>
        </p:txBody>
      </p:sp>
    </p:spTree>
    <p:extLst>
      <p:ext uri="{BB962C8B-B14F-4D97-AF65-F5344CB8AC3E}">
        <p14:creationId xmlns:p14="http://schemas.microsoft.com/office/powerpoint/2010/main" val="2445367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While the isolated students are deciding their answers, you will speak to the rest of the class. You will reveal the real-world outcome and assign them their "Authority" roles.</a:t>
            </a:r>
          </a:p>
        </p:txBody>
      </p:sp>
      <p:sp>
        <p:nvSpPr>
          <p:cNvPr id="4" name="Slide Number Placeholder 3"/>
          <p:cNvSpPr>
            <a:spLocks noGrp="1"/>
          </p:cNvSpPr>
          <p:nvPr>
            <p:ph type="sldNum" sz="quarter" idx="5"/>
          </p:nvPr>
        </p:nvSpPr>
        <p:spPr/>
        <p:txBody>
          <a:bodyPr/>
          <a:lstStyle/>
          <a:p>
            <a:fld id="{889AB216-703E-453B-8FEF-77A64385AA89}" type="slidenum">
              <a:rPr lang="en-PH" smtClean="0"/>
              <a:t>5</a:t>
            </a:fld>
            <a:endParaRPr lang="en-PH"/>
          </a:p>
        </p:txBody>
      </p:sp>
    </p:spTree>
    <p:extLst>
      <p:ext uri="{BB962C8B-B14F-4D97-AF65-F5344CB8AC3E}">
        <p14:creationId xmlns:p14="http://schemas.microsoft.com/office/powerpoint/2010/main" val="1343563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380D-C4DA-69CD-0E03-EFE8356BF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BA23E-006A-7AB8-C2A9-E3D5E7DB6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1853D-F275-8867-80CB-7271904A0AE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A295B3E-C787-9C9E-9E35-EEAB5C700533}"/>
              </a:ext>
            </a:extLst>
          </p:cNvPr>
          <p:cNvSpPr>
            <a:spLocks noGrp="1"/>
          </p:cNvSpPr>
          <p:nvPr>
            <p:ph type="sldNum" sz="quarter" idx="5"/>
          </p:nvPr>
        </p:nvSpPr>
        <p:spPr/>
        <p:txBody>
          <a:bodyPr/>
          <a:lstStyle/>
          <a:p>
            <a:fld id="{889AB216-703E-453B-8FEF-77A64385AA89}" type="slidenum">
              <a:rPr lang="en-PH" smtClean="0"/>
              <a:t>6</a:t>
            </a:fld>
            <a:endParaRPr lang="en-PH"/>
          </a:p>
        </p:txBody>
      </p:sp>
    </p:spTree>
    <p:extLst>
      <p:ext uri="{BB962C8B-B14F-4D97-AF65-F5344CB8AC3E}">
        <p14:creationId xmlns:p14="http://schemas.microsoft.com/office/powerpoint/2010/main" val="398168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1" i="0" kern="1200" dirty="0">
                <a:solidFill>
                  <a:schemeClr val="tx1"/>
                </a:solidFill>
                <a:effectLst/>
                <a:latin typeface="+mn-lt"/>
                <a:ea typeface="+mn-ea"/>
                <a:cs typeface="+mn-cs"/>
              </a:rPr>
              <a:t>Module 6.1 - NSPE Code of Ethics for Engineers and Module 6.3 - ABET Code of Ethics</a:t>
            </a:r>
            <a:endParaRPr lang="en-PH" dirty="0"/>
          </a:p>
        </p:txBody>
      </p:sp>
      <p:sp>
        <p:nvSpPr>
          <p:cNvPr id="4" name="Slide Number Placeholder 3"/>
          <p:cNvSpPr>
            <a:spLocks noGrp="1"/>
          </p:cNvSpPr>
          <p:nvPr>
            <p:ph type="sldNum" sz="quarter" idx="5"/>
          </p:nvPr>
        </p:nvSpPr>
        <p:spPr/>
        <p:txBody>
          <a:bodyPr/>
          <a:lstStyle/>
          <a:p>
            <a:fld id="{889AB216-703E-453B-8FEF-77A64385AA89}" type="slidenum">
              <a:rPr lang="en-PH" smtClean="0"/>
              <a:t>7</a:t>
            </a:fld>
            <a:endParaRPr lang="en-PH"/>
          </a:p>
        </p:txBody>
      </p:sp>
    </p:spTree>
    <p:extLst>
      <p:ext uri="{BB962C8B-B14F-4D97-AF65-F5344CB8AC3E}">
        <p14:creationId xmlns:p14="http://schemas.microsoft.com/office/powerpoint/2010/main" val="3312130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99DFC-F086-898C-9980-521B473F1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30CFB-5DBD-B173-8634-65EA005290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E040C-63C6-32D0-7395-73EA1FA5027F}"/>
              </a:ext>
            </a:extLst>
          </p:cNvPr>
          <p:cNvSpPr>
            <a:spLocks noGrp="1"/>
          </p:cNvSpPr>
          <p:nvPr>
            <p:ph type="body" idx="1"/>
          </p:nvPr>
        </p:nvSpPr>
        <p:spPr/>
        <p:txBody>
          <a:bodyPr/>
          <a:lstStyle/>
          <a:p>
            <a:r>
              <a:rPr lang="en-PH" sz="1200" b="1" i="0" kern="1200" dirty="0">
                <a:solidFill>
                  <a:schemeClr val="tx1"/>
                </a:solidFill>
                <a:effectLst/>
                <a:latin typeface="+mn-lt"/>
                <a:ea typeface="+mn-ea"/>
                <a:cs typeface="+mn-cs"/>
              </a:rPr>
              <a:t>Module 6.2 - Key Concepts in Engineering Ethics</a:t>
            </a:r>
            <a:endParaRPr lang="en-PH" dirty="0"/>
          </a:p>
        </p:txBody>
      </p:sp>
      <p:sp>
        <p:nvSpPr>
          <p:cNvPr id="4" name="Slide Number Placeholder 3">
            <a:extLst>
              <a:ext uri="{FF2B5EF4-FFF2-40B4-BE49-F238E27FC236}">
                <a16:creationId xmlns:a16="http://schemas.microsoft.com/office/drawing/2014/main" id="{DE526BC0-095B-10EF-54E6-552D1C57566A}"/>
              </a:ext>
            </a:extLst>
          </p:cNvPr>
          <p:cNvSpPr>
            <a:spLocks noGrp="1"/>
          </p:cNvSpPr>
          <p:nvPr>
            <p:ph type="sldNum" sz="quarter" idx="5"/>
          </p:nvPr>
        </p:nvSpPr>
        <p:spPr/>
        <p:txBody>
          <a:bodyPr/>
          <a:lstStyle/>
          <a:p>
            <a:fld id="{889AB216-703E-453B-8FEF-77A64385AA89}" type="slidenum">
              <a:rPr lang="en-PH" smtClean="0"/>
              <a:t>8</a:t>
            </a:fld>
            <a:endParaRPr lang="en-PH"/>
          </a:p>
        </p:txBody>
      </p:sp>
    </p:spTree>
    <p:extLst>
      <p:ext uri="{BB962C8B-B14F-4D97-AF65-F5344CB8AC3E}">
        <p14:creationId xmlns:p14="http://schemas.microsoft.com/office/powerpoint/2010/main" val="1270116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6D6A-EEEC-0629-70EF-BA1961C54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72F17-83F0-1D42-E94C-6F594AA5D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ACCFA-4A2D-349D-C399-2B8FE34AE391}"/>
              </a:ext>
            </a:extLst>
          </p:cNvPr>
          <p:cNvSpPr>
            <a:spLocks noGrp="1"/>
          </p:cNvSpPr>
          <p:nvPr>
            <p:ph type="body" idx="1"/>
          </p:nvPr>
        </p:nvSpPr>
        <p:spPr/>
        <p:txBody>
          <a:bodyPr/>
          <a:lstStyle/>
          <a:p>
            <a:r>
              <a:rPr lang="en-PH" sz="1200" b="1" i="0" kern="1200" dirty="0">
                <a:solidFill>
                  <a:schemeClr val="tx1"/>
                </a:solidFill>
                <a:effectLst/>
                <a:latin typeface="+mn-lt"/>
                <a:ea typeface="+mn-ea"/>
                <a:cs typeface="+mn-cs"/>
              </a:rPr>
              <a:t>Module 3.1 - Engineering Ethics</a:t>
            </a:r>
            <a:endParaRPr lang="en-PH" dirty="0"/>
          </a:p>
        </p:txBody>
      </p:sp>
      <p:sp>
        <p:nvSpPr>
          <p:cNvPr id="4" name="Slide Number Placeholder 3">
            <a:extLst>
              <a:ext uri="{FF2B5EF4-FFF2-40B4-BE49-F238E27FC236}">
                <a16:creationId xmlns:a16="http://schemas.microsoft.com/office/drawing/2014/main" id="{E7AB31BA-B23E-C1AC-0043-E008AF52D730}"/>
              </a:ext>
            </a:extLst>
          </p:cNvPr>
          <p:cNvSpPr>
            <a:spLocks noGrp="1"/>
          </p:cNvSpPr>
          <p:nvPr>
            <p:ph type="sldNum" sz="quarter" idx="5"/>
          </p:nvPr>
        </p:nvSpPr>
        <p:spPr/>
        <p:txBody>
          <a:bodyPr/>
          <a:lstStyle/>
          <a:p>
            <a:fld id="{889AB216-703E-453B-8FEF-77A64385AA89}" type="slidenum">
              <a:rPr lang="en-PH" smtClean="0"/>
              <a:t>9</a:t>
            </a:fld>
            <a:endParaRPr lang="en-PH"/>
          </a:p>
        </p:txBody>
      </p:sp>
    </p:spTree>
    <p:extLst>
      <p:ext uri="{BB962C8B-B14F-4D97-AF65-F5344CB8AC3E}">
        <p14:creationId xmlns:p14="http://schemas.microsoft.com/office/powerpoint/2010/main" val="1897154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2AECC-B087-25BF-354C-5B3964A61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36187-6D9E-8089-34F8-A00D12DC7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C686C-F55F-1566-1286-BD3138AEDD18}"/>
              </a:ext>
            </a:extLst>
          </p:cNvPr>
          <p:cNvSpPr>
            <a:spLocks noGrp="1"/>
          </p:cNvSpPr>
          <p:nvPr>
            <p:ph type="body" idx="1"/>
          </p:nvPr>
        </p:nvSpPr>
        <p:spPr/>
        <p:txBody>
          <a:bodyPr/>
          <a:lstStyle/>
          <a:p>
            <a:r>
              <a:rPr lang="en-PH" sz="1200" b="1" i="0" kern="1200" dirty="0">
                <a:solidFill>
                  <a:schemeClr val="tx1"/>
                </a:solidFill>
                <a:effectLst/>
                <a:latin typeface="+mn-lt"/>
                <a:ea typeface="+mn-ea"/>
                <a:cs typeface="+mn-cs"/>
              </a:rPr>
              <a:t>Module 6.1 - NSPE Code of Ethics for Engineers </a:t>
            </a:r>
            <a:endParaRPr lang="en-PH" dirty="0"/>
          </a:p>
        </p:txBody>
      </p:sp>
      <p:sp>
        <p:nvSpPr>
          <p:cNvPr id="4" name="Slide Number Placeholder 3">
            <a:extLst>
              <a:ext uri="{FF2B5EF4-FFF2-40B4-BE49-F238E27FC236}">
                <a16:creationId xmlns:a16="http://schemas.microsoft.com/office/drawing/2014/main" id="{94F9897E-5BE4-1ECB-316E-258F04D10712}"/>
              </a:ext>
            </a:extLst>
          </p:cNvPr>
          <p:cNvSpPr>
            <a:spLocks noGrp="1"/>
          </p:cNvSpPr>
          <p:nvPr>
            <p:ph type="sldNum" sz="quarter" idx="5"/>
          </p:nvPr>
        </p:nvSpPr>
        <p:spPr/>
        <p:txBody>
          <a:bodyPr/>
          <a:lstStyle/>
          <a:p>
            <a:fld id="{889AB216-703E-453B-8FEF-77A64385AA89}" type="slidenum">
              <a:rPr lang="en-PH" smtClean="0"/>
              <a:t>10</a:t>
            </a:fld>
            <a:endParaRPr lang="en-PH"/>
          </a:p>
        </p:txBody>
      </p:sp>
    </p:spTree>
    <p:extLst>
      <p:ext uri="{BB962C8B-B14F-4D97-AF65-F5344CB8AC3E}">
        <p14:creationId xmlns:p14="http://schemas.microsoft.com/office/powerpoint/2010/main" val="554677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B48F5-56BE-0231-EEBA-2A4BDAC7D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46B7E-1AF9-90C2-0AA6-862BB370E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E41A7-278E-7CC6-5B14-974C7C33B0E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A2F225A-94D2-315F-CB76-7D768BDCF967}"/>
              </a:ext>
            </a:extLst>
          </p:cNvPr>
          <p:cNvSpPr>
            <a:spLocks noGrp="1"/>
          </p:cNvSpPr>
          <p:nvPr>
            <p:ph type="sldNum" sz="quarter" idx="5"/>
          </p:nvPr>
        </p:nvSpPr>
        <p:spPr/>
        <p:txBody>
          <a:bodyPr/>
          <a:lstStyle/>
          <a:p>
            <a:fld id="{889AB216-703E-453B-8FEF-77A64385AA89}" type="slidenum">
              <a:rPr lang="en-PH" smtClean="0"/>
              <a:t>11</a:t>
            </a:fld>
            <a:endParaRPr lang="en-PH"/>
          </a:p>
        </p:txBody>
      </p:sp>
    </p:spTree>
    <p:extLst>
      <p:ext uri="{BB962C8B-B14F-4D97-AF65-F5344CB8AC3E}">
        <p14:creationId xmlns:p14="http://schemas.microsoft.com/office/powerpoint/2010/main" val="2280322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8.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Recitation 2</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err="1">
                <a:solidFill>
                  <a:schemeClr val="tx1">
                    <a:lumMod val="85000"/>
                    <a:lumOff val="15000"/>
                  </a:schemeClr>
                </a:solidFill>
              </a:rPr>
              <a:t>Mexe</a:t>
            </a:r>
            <a:r>
              <a:rPr lang="en-US" dirty="0">
                <a:solidFill>
                  <a:schemeClr val="tx1">
                    <a:lumMod val="85000"/>
                    <a:lumOff val="15000"/>
                  </a:schemeClr>
                </a:solidFill>
              </a:rPr>
              <a:t> 410: Codes, Standards and Professional Ethics for </a:t>
            </a:r>
            <a:r>
              <a:rPr lang="en-US" dirty="0" err="1">
                <a:solidFill>
                  <a:schemeClr val="tx1">
                    <a:lumMod val="85000"/>
                    <a:lumOff val="15000"/>
                  </a:schemeClr>
                </a:solidFill>
              </a:rPr>
              <a:t>MExE</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fontScale="90000"/>
          </a:bodyPr>
          <a:lstStyle/>
          <a:p>
            <a:pPr lvl="0"/>
            <a:r>
              <a:rPr lang="en-PH" dirty="0">
                <a:latin typeface="Calibri" panose="020F0502020204030204" pitchFamily="34" charset="0"/>
                <a:cs typeface="Calibri" panose="020F0502020204030204" pitchFamily="34" charset="0"/>
              </a:rPr>
              <a:t>"</a:t>
            </a:r>
            <a:r>
              <a:rPr lang="en-PH" dirty="0"/>
              <a:t>In matters of style, swim with the current; in matters of principle, stand like a rock</a:t>
            </a:r>
            <a:r>
              <a:rPr lang="en-PH" dirty="0">
                <a:latin typeface="Calibri" panose="020F0502020204030204" pitchFamily="34" charset="0"/>
                <a:cs typeface="Calibri" panose="020F0502020204030204" pitchFamily="34" charset="0"/>
              </a:rPr>
              <a:t>."</a:t>
            </a:r>
            <a:endParaRPr lang="en-US" sz="4800" i="1" dirty="0">
              <a:solidFill>
                <a:srgbClr val="FFFFFF"/>
              </a:solidFill>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PH" dirty="0">
                <a:solidFill>
                  <a:schemeClr val="bg1"/>
                </a:solidFill>
                <a:latin typeface="Calibri" panose="020F0502020204030204" pitchFamily="34" charset="0"/>
                <a:cs typeface="Calibri" panose="020F0502020204030204" pitchFamily="34" charset="0"/>
              </a:rPr>
              <a:t>— </a:t>
            </a:r>
            <a:r>
              <a:rPr lang="en-PH" dirty="0">
                <a:solidFill>
                  <a:schemeClr val="bg1"/>
                </a:solidFill>
              </a:rPr>
              <a:t>Thomas Jefferson</a:t>
            </a:r>
            <a:endParaRPr lang="en-US"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0373-A383-48A8-587E-6C8659D34A14}"/>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5E5CBB8D-39E7-E4A8-C8C9-A3B176447672}"/>
              </a:ext>
            </a:extLst>
          </p:cNvPr>
          <p:cNvSpPr>
            <a:spLocks noGrp="1"/>
          </p:cNvSpPr>
          <p:nvPr>
            <p:ph idx="1"/>
          </p:nvPr>
        </p:nvSpPr>
        <p:spPr>
          <a:xfrm>
            <a:off x="604213" y="1857160"/>
            <a:ext cx="10983573" cy="4373593"/>
          </a:xfrm>
        </p:spPr>
        <p:txBody>
          <a:bodyPr>
            <a:noAutofit/>
          </a:bodyPr>
          <a:lstStyle/>
          <a:p>
            <a:pPr algn="just"/>
            <a:r>
              <a:rPr lang="en-PH" sz="2400" b="1" dirty="0"/>
              <a:t>The Story:</a:t>
            </a:r>
            <a:endParaRPr lang="en-PH" sz="2400" dirty="0"/>
          </a:p>
          <a:p>
            <a:pPr algn="just"/>
            <a:r>
              <a:rPr lang="en-PH" sz="2400" dirty="0"/>
              <a:t>"Imagine you are the Plant Manager of a highly regulated industrial facility. You have a very close personal friend who asked for your help to get a job. Because you trust him, you backed his application, and he was hired as the Maintenance Engineering Supervisor. A few weeks into his probationary period, your bosses call you into the executive office. They are furious. They show you CCTV footage of your close friend, the Supervisor you recommended, sitting on the factory floor playing Mobile Legends with the technicians during shift hours. The bosses demand an explanation. You call your friend to confront him, and he defends his actions by saying, *'I am just mingling. I need to play with them to gain the trust of the technicians." </a:t>
            </a:r>
          </a:p>
        </p:txBody>
      </p:sp>
    </p:spTree>
    <p:extLst>
      <p:ext uri="{BB962C8B-B14F-4D97-AF65-F5344CB8AC3E}">
        <p14:creationId xmlns:p14="http://schemas.microsoft.com/office/powerpoint/2010/main" val="3262463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EFB01-55F6-44F3-65A5-1ED742AE73F7}"/>
              </a:ext>
            </a:extLst>
          </p:cNvPr>
          <p:cNvSpPr>
            <a:spLocks noGrp="1"/>
          </p:cNvSpPr>
          <p:nvPr>
            <p:ph type="title"/>
          </p:nvPr>
        </p:nvSpPr>
        <p:spPr/>
        <p:txBody>
          <a:bodyPr anchor="ctr">
            <a:normAutofit/>
          </a:bodyPr>
          <a:lstStyle/>
          <a:p>
            <a:pPr algn="ctr"/>
            <a:r>
              <a:rPr lang="en-US" sz="4400" dirty="0"/>
              <a:t>Question to the selected students:</a:t>
            </a:r>
            <a:endParaRPr lang="en-PH" sz="4400" dirty="0"/>
          </a:p>
        </p:txBody>
      </p:sp>
      <p:sp>
        <p:nvSpPr>
          <p:cNvPr id="3" name="Content Placeholder 2">
            <a:extLst>
              <a:ext uri="{FF2B5EF4-FFF2-40B4-BE49-F238E27FC236}">
                <a16:creationId xmlns:a16="http://schemas.microsoft.com/office/drawing/2014/main" id="{8919335E-3B3A-08CE-E21A-E3CF8C40F316}"/>
              </a:ext>
            </a:extLst>
          </p:cNvPr>
          <p:cNvSpPr>
            <a:spLocks noGrp="1"/>
          </p:cNvSpPr>
          <p:nvPr>
            <p:ph idx="1"/>
          </p:nvPr>
        </p:nvSpPr>
        <p:spPr>
          <a:xfrm>
            <a:off x="1097280" y="2108201"/>
            <a:ext cx="10058400" cy="3991974"/>
          </a:xfrm>
        </p:spPr>
        <p:txBody>
          <a:bodyPr anchor="ctr">
            <a:normAutofit fontScale="85000" lnSpcReduction="10000"/>
          </a:bodyPr>
          <a:lstStyle/>
          <a:p>
            <a:r>
              <a:rPr lang="en-PH" sz="2800" dirty="0"/>
              <a:t>What will you do now that your close friend has been caught?</a:t>
            </a:r>
          </a:p>
          <a:p>
            <a:r>
              <a:rPr lang="en-PH" sz="2800" b="1" dirty="0"/>
              <a:t>Will you defend him to upper management to save his job? </a:t>
            </a:r>
            <a:r>
              <a:rPr lang="en-PH" sz="2800" dirty="0"/>
              <a:t>(If yes, how do you justify this breach of protocol to your bosses, knowing you are risking your own credibility?) </a:t>
            </a:r>
          </a:p>
          <a:p>
            <a:r>
              <a:rPr lang="en-PH" sz="2800" b="1" dirty="0"/>
              <a:t>Will you enforce the rules and let him fail? </a:t>
            </a:r>
            <a:r>
              <a:rPr lang="en-PH" sz="2800" dirty="0"/>
              <a:t>(If yes, how do you handle the reality of ruining a deep, personal friendship?) </a:t>
            </a:r>
          </a:p>
          <a:p>
            <a:r>
              <a:rPr lang="en-PH" sz="2800" b="1" dirty="0"/>
              <a:t>Will you just give him a private warning and try to hide the severity of it from the bosses? </a:t>
            </a:r>
            <a:r>
              <a:rPr lang="en-PH" sz="2800" dirty="0"/>
              <a:t>(If yes, how does this affect the discipline of the technicians who just watched their supervisor treat the facility like an arcade?) ---</a:t>
            </a:r>
            <a:endParaRPr lang="en-PH" dirty="0"/>
          </a:p>
        </p:txBody>
      </p:sp>
    </p:spTree>
    <p:extLst>
      <p:ext uri="{BB962C8B-B14F-4D97-AF65-F5344CB8AC3E}">
        <p14:creationId xmlns:p14="http://schemas.microsoft.com/office/powerpoint/2010/main" val="2918232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07BAC-524E-84F9-FB26-DD53D8E0D5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EC631-94DB-43F4-D7AE-15E8914A6110}"/>
              </a:ext>
            </a:extLst>
          </p:cNvPr>
          <p:cNvSpPr>
            <a:spLocks noGrp="1"/>
          </p:cNvSpPr>
          <p:nvPr>
            <p:ph type="title"/>
          </p:nvPr>
        </p:nvSpPr>
        <p:spPr>
          <a:xfrm>
            <a:off x="914400" y="286603"/>
            <a:ext cx="10241280" cy="1450757"/>
          </a:xfrm>
        </p:spPr>
        <p:txBody>
          <a:bodyPr anchor="ctr"/>
          <a:lstStyle/>
          <a:p>
            <a:pPr algn="ctr"/>
            <a:r>
              <a:rPr lang="en-US" dirty="0"/>
              <a:t>Question </a:t>
            </a:r>
            <a:r>
              <a:rPr lang="en-PH" dirty="0"/>
              <a:t>for the Rest of the Class </a:t>
            </a:r>
            <a:r>
              <a:rPr lang="en-US" dirty="0"/>
              <a:t>:</a:t>
            </a:r>
            <a:endParaRPr lang="en-PH" dirty="0"/>
          </a:p>
        </p:txBody>
      </p:sp>
      <p:sp>
        <p:nvSpPr>
          <p:cNvPr id="3" name="Content Placeholder 2">
            <a:extLst>
              <a:ext uri="{FF2B5EF4-FFF2-40B4-BE49-F238E27FC236}">
                <a16:creationId xmlns:a16="http://schemas.microsoft.com/office/drawing/2014/main" id="{740F0400-382F-A8A2-C600-536DC35FE465}"/>
              </a:ext>
            </a:extLst>
          </p:cNvPr>
          <p:cNvSpPr>
            <a:spLocks noGrp="1"/>
          </p:cNvSpPr>
          <p:nvPr>
            <p:ph idx="1"/>
          </p:nvPr>
        </p:nvSpPr>
        <p:spPr>
          <a:xfrm>
            <a:off x="1097280" y="2108201"/>
            <a:ext cx="10058400" cy="3966922"/>
          </a:xfrm>
        </p:spPr>
        <p:txBody>
          <a:bodyPr>
            <a:normAutofit fontScale="92500" lnSpcReduction="20000"/>
          </a:bodyPr>
          <a:lstStyle/>
          <a:p>
            <a:pPr algn="just"/>
            <a:r>
              <a:rPr lang="en-PH" sz="3200" dirty="0"/>
              <a:t>"Here is what actually happened in real life. The Plant Manager did not cover for his friend. He chose his professional duty over his personal relationship. He severely scolded his friend for compromising the integrity of the plant and embarrassing him in front of upper management. Because the Supervisor prioritized 'mingling' over standard operating procedures, he was not regularized and lost his job. The personal friendship was deeply damaged, but the standard of the facility was upheld."</a:t>
            </a:r>
          </a:p>
        </p:txBody>
      </p:sp>
    </p:spTree>
    <p:extLst>
      <p:ext uri="{BB962C8B-B14F-4D97-AF65-F5344CB8AC3E}">
        <p14:creationId xmlns:p14="http://schemas.microsoft.com/office/powerpoint/2010/main" val="313092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6A573-A75B-273E-1A3F-41E852B8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57764-5E52-0747-8AFD-B4D9D5B45F66}"/>
              </a:ext>
            </a:extLst>
          </p:cNvPr>
          <p:cNvSpPr>
            <a:spLocks noGrp="1"/>
          </p:cNvSpPr>
          <p:nvPr>
            <p:ph type="title"/>
          </p:nvPr>
        </p:nvSpPr>
        <p:spPr>
          <a:xfrm>
            <a:off x="914400" y="286603"/>
            <a:ext cx="10241280" cy="1450757"/>
          </a:xfrm>
        </p:spPr>
        <p:txBody>
          <a:bodyPr anchor="ctr"/>
          <a:lstStyle/>
          <a:p>
            <a:pPr algn="ctr"/>
            <a:r>
              <a:rPr lang="en-US" dirty="0"/>
              <a:t>Question </a:t>
            </a:r>
            <a:r>
              <a:rPr lang="en-PH" dirty="0"/>
              <a:t>for the Rest of the Class </a:t>
            </a:r>
            <a:r>
              <a:rPr lang="en-US" dirty="0"/>
              <a:t>:</a:t>
            </a:r>
            <a:endParaRPr lang="en-PH" dirty="0"/>
          </a:p>
        </p:txBody>
      </p:sp>
      <p:sp>
        <p:nvSpPr>
          <p:cNvPr id="3" name="Content Placeholder 2">
            <a:extLst>
              <a:ext uri="{FF2B5EF4-FFF2-40B4-BE49-F238E27FC236}">
                <a16:creationId xmlns:a16="http://schemas.microsoft.com/office/drawing/2014/main" id="{9CE0D318-D7D2-4571-091D-0961DCBC6FE4}"/>
              </a:ext>
            </a:extLst>
          </p:cNvPr>
          <p:cNvSpPr>
            <a:spLocks noGrp="1"/>
          </p:cNvSpPr>
          <p:nvPr>
            <p:ph idx="1"/>
          </p:nvPr>
        </p:nvSpPr>
        <p:spPr>
          <a:xfrm>
            <a:off x="1097280" y="1872343"/>
            <a:ext cx="10058400" cy="4572000"/>
          </a:xfrm>
        </p:spPr>
        <p:txBody>
          <a:bodyPr>
            <a:normAutofit fontScale="85000" lnSpcReduction="20000"/>
          </a:bodyPr>
          <a:lstStyle/>
          <a:p>
            <a:pPr algn="just"/>
            <a:r>
              <a:rPr lang="en-PH" sz="2400" b="1" dirty="0"/>
              <a:t>POV 1: The Technicians</a:t>
            </a:r>
          </a:p>
          <a:p>
            <a:pPr algn="just"/>
            <a:r>
              <a:rPr lang="en-PH" sz="2400" i="1" dirty="0"/>
              <a:t>Question:</a:t>
            </a:r>
            <a:r>
              <a:rPr lang="en-PH" sz="2400" dirty="0"/>
              <a:t> As the technicians who played Mobile Legends with him, how do you view the company's decision to let him go? Did you actually respect him as an engineering leader, or just as a gaming buddy? </a:t>
            </a:r>
          </a:p>
          <a:p>
            <a:pPr algn="just"/>
            <a:r>
              <a:rPr lang="en-PH" sz="2400" b="1" dirty="0"/>
              <a:t>POV 2: The Former Supervisor </a:t>
            </a:r>
          </a:p>
          <a:p>
            <a:pPr algn="just"/>
            <a:r>
              <a:rPr lang="en-PH" sz="2400" i="1" dirty="0"/>
              <a:t>Question:</a:t>
            </a:r>
            <a:r>
              <a:rPr lang="en-PH" sz="2400" dirty="0"/>
              <a:t> Did he misunderstand the fundamental difference between leadership and friendship? Can you ever effectively audit or discipline technicians if you act as their peer instead of their supervisor? </a:t>
            </a:r>
          </a:p>
          <a:p>
            <a:pPr algn="just"/>
            <a:r>
              <a:rPr lang="en-PH" sz="2400" b="1" dirty="0"/>
              <a:t>POV 3: The Professional Mechatronics Engineer.</a:t>
            </a:r>
            <a:endParaRPr lang="en-PH" sz="2400" dirty="0"/>
          </a:p>
          <a:p>
            <a:pPr algn="just"/>
            <a:r>
              <a:rPr lang="en-PH" sz="2400" i="1" dirty="0"/>
              <a:t>Question:</a:t>
            </a:r>
            <a:r>
              <a:rPr lang="en-PH" sz="2400" dirty="0"/>
              <a:t> Look at this through the lens of Professional Ethics. Was it a mistake for the Plant Manager to recommend his friend in the first place? Does vouching for a friend automatically create an ethical conflict of interest? </a:t>
            </a:r>
          </a:p>
        </p:txBody>
      </p:sp>
    </p:spTree>
    <p:extLst>
      <p:ext uri="{BB962C8B-B14F-4D97-AF65-F5344CB8AC3E}">
        <p14:creationId xmlns:p14="http://schemas.microsoft.com/office/powerpoint/2010/main" val="399386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1CD7-6840-12B1-E3EE-EC91300A79DB}"/>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03AA1FD6-712A-D621-8E39-AA0437AD2FBF}"/>
              </a:ext>
            </a:extLst>
          </p:cNvPr>
          <p:cNvSpPr>
            <a:spLocks noGrp="1"/>
          </p:cNvSpPr>
          <p:nvPr>
            <p:ph idx="1"/>
          </p:nvPr>
        </p:nvSpPr>
        <p:spPr>
          <a:xfrm>
            <a:off x="1097280" y="2108201"/>
            <a:ext cx="10058400" cy="4161970"/>
          </a:xfrm>
        </p:spPr>
        <p:txBody>
          <a:bodyPr>
            <a:normAutofit/>
          </a:bodyPr>
          <a:lstStyle/>
          <a:p>
            <a:pPr algn="just"/>
            <a:r>
              <a:rPr lang="en-PH" sz="2800" b="1" dirty="0"/>
              <a:t>NSPE and ABET Fundamental Canon 4: The "Faithful Agent" Rule</a:t>
            </a:r>
          </a:p>
          <a:p>
            <a:pPr algn="just">
              <a:buFont typeface="Wingdings" panose="05000000000000000000" pitchFamily="2" charset="2"/>
              <a:buChar char="§"/>
            </a:pPr>
            <a:r>
              <a:rPr lang="en-PH" sz="2800" dirty="0"/>
              <a:t>Both the National Society of Professional Engineers (NSPE) and ABET Codes of Ethics explicitly state: "Engineers shall act for each employer or client as faithful agents or trustees."</a:t>
            </a:r>
          </a:p>
          <a:p>
            <a:pPr algn="just">
              <a:buFont typeface="Wingdings" panose="05000000000000000000" pitchFamily="2" charset="2"/>
              <a:buChar char="§"/>
            </a:pPr>
            <a:r>
              <a:rPr lang="en-PH" sz="2800" dirty="0"/>
              <a:t>If you attempt to defend your friend's blatant breach of protocol to upper management, you are violating your primary duty of loyalty to the organization that employs you. </a:t>
            </a:r>
            <a:endParaRPr lang="en-PH" dirty="0"/>
          </a:p>
        </p:txBody>
      </p:sp>
    </p:spTree>
    <p:extLst>
      <p:ext uri="{BB962C8B-B14F-4D97-AF65-F5344CB8AC3E}">
        <p14:creationId xmlns:p14="http://schemas.microsoft.com/office/powerpoint/2010/main" val="3530586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56CF3-BF6D-D7B0-1B3E-BD35C9771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EE162-E34A-E73E-8428-AE62C0B8FE9C}"/>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7D6581A8-27DB-6EBF-77C9-7E1D61F3D28E}"/>
              </a:ext>
            </a:extLst>
          </p:cNvPr>
          <p:cNvSpPr>
            <a:spLocks noGrp="1"/>
          </p:cNvSpPr>
          <p:nvPr>
            <p:ph idx="1"/>
          </p:nvPr>
        </p:nvSpPr>
        <p:spPr>
          <a:xfrm>
            <a:off x="426720" y="1915886"/>
            <a:ext cx="11521440" cy="4458787"/>
          </a:xfrm>
        </p:spPr>
        <p:txBody>
          <a:bodyPr>
            <a:normAutofit fontScale="92500" lnSpcReduction="20000"/>
          </a:bodyPr>
          <a:lstStyle/>
          <a:p>
            <a:pPr marL="0" indent="0">
              <a:buNone/>
            </a:pPr>
            <a:r>
              <a:rPr lang="en-PH" sz="3200" b="1" dirty="0"/>
              <a:t>Conflict of Interest</a:t>
            </a:r>
          </a:p>
          <a:p>
            <a:pPr>
              <a:buFont typeface="Wingdings" panose="05000000000000000000" pitchFamily="2" charset="2"/>
              <a:buChar char="§"/>
            </a:pPr>
            <a:r>
              <a:rPr lang="en-PH" sz="3200" dirty="0"/>
              <a:t>A conflict of interest is defined as a situation in the workplace where an employee has *"competing interests or loyalties that either are, or potentially can be, at odds with each other."</a:t>
            </a:r>
          </a:p>
          <a:p>
            <a:pPr>
              <a:buFont typeface="Wingdings" panose="05000000000000000000" pitchFamily="2" charset="2"/>
              <a:buChar char="§"/>
            </a:pPr>
            <a:r>
              <a:rPr lang="en-PH" sz="3200" dirty="0"/>
              <a:t>This scenario forces a struggle between diverging allegiances: your personal friendship versus your obligation to the facility. The ethical constraint dictates that you must prioritize your role as a "Faithful Agent and Trustee" and avoid letting personal attachments compromise your professional judgment. </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6BCA511-BC77-50AC-4D89-C5E439FA9E46}"/>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B6BCA511-BC77-50AC-4D89-C5E439FA9E46}"/>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4428003C-45F4-A184-869B-E4AC102D505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4428003C-45F4-A184-869B-E4AC102D505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3482393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A242-1854-2198-D67E-99066762E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B865C-405E-5D65-CB0A-C423770FE7F1}"/>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A6F5226A-669E-7DF4-A7E3-128FF4B96D89}"/>
              </a:ext>
            </a:extLst>
          </p:cNvPr>
          <p:cNvSpPr>
            <a:spLocks noGrp="1"/>
          </p:cNvSpPr>
          <p:nvPr>
            <p:ph idx="1"/>
          </p:nvPr>
        </p:nvSpPr>
        <p:spPr>
          <a:xfrm>
            <a:off x="426720" y="1915886"/>
            <a:ext cx="11521440" cy="4458787"/>
          </a:xfrm>
        </p:spPr>
        <p:txBody>
          <a:bodyPr>
            <a:normAutofit fontScale="85000" lnSpcReduction="10000"/>
          </a:bodyPr>
          <a:lstStyle/>
          <a:p>
            <a:pPr marL="0" indent="0">
              <a:buNone/>
            </a:pPr>
            <a:r>
              <a:rPr lang="en-PH" sz="3200" b="1" dirty="0"/>
              <a:t>Individual Responsibility and Work Ethic</a:t>
            </a:r>
          </a:p>
          <a:p>
            <a:pPr>
              <a:buFont typeface="Wingdings" panose="05000000000000000000" pitchFamily="2" charset="2"/>
              <a:buChar char="§"/>
            </a:pPr>
            <a:r>
              <a:rPr lang="en-PH" sz="3200" dirty="0"/>
              <a:t>An individual in a professional capacity is fully responsible for the regular tasks they are assigned. Individuals fail in this responsibility due to either negligence or *"deliberate underperformance."* * </a:t>
            </a:r>
          </a:p>
          <a:p>
            <a:pPr>
              <a:buFont typeface="Wingdings" panose="05000000000000000000" pitchFamily="2" charset="2"/>
              <a:buChar char="§"/>
            </a:pPr>
            <a:r>
              <a:rPr lang="en-PH" sz="3200" dirty="0"/>
              <a:t>The texts mandate that a good work ethic requires hard work and diligence, and workers who fail to exhibit this *"may be regarded as failing to provide fair value for the wage the employer is paying them.“ Your friend playing a mobile game on company time is deliberately underperforming, and you cannot ethically justify paying him for this time. </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FAC37EB-122E-8FB0-F5D7-06EF2D935901}"/>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3FAC37EB-122E-8FB0-F5D7-06EF2D93590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E47FB35-0948-E3F3-3A1A-5545872B0DC0}"/>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9E47FB35-0948-E3F3-3A1A-5545872B0DC0}"/>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756329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DA048-2BC1-A67F-07EF-E79A14CCB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AEF1E-6C5F-5FC3-4398-5CFC164CAF0B}"/>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E71EA39A-0263-353C-9A7F-A0F44CEA5DC8}"/>
              </a:ext>
            </a:extLst>
          </p:cNvPr>
          <p:cNvSpPr>
            <a:spLocks noGrp="1"/>
          </p:cNvSpPr>
          <p:nvPr>
            <p:ph idx="1"/>
          </p:nvPr>
        </p:nvSpPr>
        <p:spPr>
          <a:xfrm>
            <a:off x="426720" y="1915886"/>
            <a:ext cx="11521440" cy="4458787"/>
          </a:xfrm>
        </p:spPr>
        <p:txBody>
          <a:bodyPr>
            <a:normAutofit/>
          </a:bodyPr>
          <a:lstStyle/>
          <a:p>
            <a:pPr marL="0" indent="0">
              <a:buNone/>
            </a:pPr>
            <a:r>
              <a:rPr lang="en-PH" sz="3200" b="1" dirty="0"/>
              <a:t>NSPE Professional Obligations (Section III.1.a): Distortion of Facts</a:t>
            </a:r>
          </a:p>
          <a:p>
            <a:pPr>
              <a:buFont typeface="Wingdings" panose="05000000000000000000" pitchFamily="2" charset="2"/>
              <a:buChar char="§"/>
            </a:pPr>
            <a:r>
              <a:rPr lang="en-PH" sz="3200" dirty="0"/>
              <a:t> The NSPE Code dictates that "Engineers shall acknowledge their errors and shall not distort or alter the facts."</a:t>
            </a:r>
          </a:p>
          <a:p>
            <a:pPr>
              <a:buFont typeface="Wingdings" panose="05000000000000000000" pitchFamily="2" charset="2"/>
              <a:buChar char="§"/>
            </a:pPr>
            <a:r>
              <a:rPr lang="en-PH" sz="3200" dirty="0"/>
              <a:t> If you choose the option to give your friend a private warning and "try to hide the severity of it from the bosses," you are actively distorting facts and engaging in an unethical deception against your own superiors. </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E9F8EB4-6806-45CF-0BA0-08F98791AF81}"/>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AE9F8EB4-6806-45CF-0BA0-08F98791AF8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C367349-8A86-B690-A4A1-E0EE08E69868}"/>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3C367349-8A86-B690-A4A1-E0EE08E69868}"/>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4191338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49FA-9E15-82D8-C679-A4AAFB4C8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33A42-2BFC-662D-65BB-35157D2F5A1F}"/>
              </a:ext>
            </a:extLst>
          </p:cNvPr>
          <p:cNvSpPr>
            <a:spLocks noGrp="1"/>
          </p:cNvSpPr>
          <p:nvPr>
            <p:ph type="title"/>
          </p:nvPr>
        </p:nvSpPr>
        <p:spPr/>
        <p:txBody>
          <a:bodyPr anchor="ctr"/>
          <a:lstStyle/>
          <a:p>
            <a:pPr algn="ctr"/>
            <a:r>
              <a:rPr lang="en-PH" dirty="0"/>
              <a:t>The Core Lesson</a:t>
            </a:r>
          </a:p>
        </p:txBody>
      </p:sp>
      <p:sp>
        <p:nvSpPr>
          <p:cNvPr id="3" name="Content Placeholder 2">
            <a:extLst>
              <a:ext uri="{FF2B5EF4-FFF2-40B4-BE49-F238E27FC236}">
                <a16:creationId xmlns:a16="http://schemas.microsoft.com/office/drawing/2014/main" id="{A49CD460-BF9F-D639-4186-0AC46E92F933}"/>
              </a:ext>
            </a:extLst>
          </p:cNvPr>
          <p:cNvSpPr>
            <a:spLocks noGrp="1"/>
          </p:cNvSpPr>
          <p:nvPr>
            <p:ph idx="1"/>
          </p:nvPr>
        </p:nvSpPr>
        <p:spPr>
          <a:xfrm>
            <a:off x="426720" y="1915886"/>
            <a:ext cx="11521440" cy="4458787"/>
          </a:xfrm>
        </p:spPr>
        <p:txBody>
          <a:bodyPr>
            <a:normAutofit lnSpcReduction="10000"/>
          </a:bodyPr>
          <a:lstStyle/>
          <a:p>
            <a:pPr marL="0" indent="0">
              <a:buNone/>
            </a:pPr>
            <a:r>
              <a:rPr lang="en-PH" sz="3200" b="1" dirty="0"/>
              <a:t>The Professional Judgment </a:t>
            </a:r>
          </a:p>
          <a:p>
            <a:pPr marL="0" indent="0">
              <a:buNone/>
            </a:pPr>
            <a:r>
              <a:rPr lang="en-PH" sz="3200" dirty="0"/>
              <a:t>Based on these extracted constraints, the only ethically compliant course of action is to enforce the rules and let him fail. You cannot defend his actions, nor can you hide his insubordination, without violating your fundamental engineering mandate to act as a faithful trustee to the employer. In a highly regulated mechatronics facility, compromising safety and discipline for the sake of a friendship is a critical professional failure.</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5A1E50A-9F66-5F35-8C5C-DDA901BB57A8}"/>
                  </a:ext>
                </a:extLst>
              </p14:cNvPr>
              <p14:cNvContentPartPr/>
              <p14:nvPr/>
            </p14:nvContentPartPr>
            <p14:xfrm>
              <a:off x="1932926" y="3838714"/>
              <a:ext cx="12600" cy="10800"/>
            </p14:xfrm>
          </p:contentPart>
        </mc:Choice>
        <mc:Fallback xmlns="">
          <p:pic>
            <p:nvPicPr>
              <p:cNvPr id="4" name="Ink 3">
                <a:extLst>
                  <a:ext uri="{FF2B5EF4-FFF2-40B4-BE49-F238E27FC236}">
                    <a16:creationId xmlns:a16="http://schemas.microsoft.com/office/drawing/2014/main" id="{AE9F8EB4-6806-45CF-0BA0-08F98791AF81}"/>
                  </a:ext>
                </a:extLst>
              </p:cNvPr>
              <p:cNvPicPr/>
              <p:nvPr/>
            </p:nvPicPr>
            <p:blipFill>
              <a:blip r:embed="rId4"/>
              <a:stretch>
                <a:fillRect/>
              </a:stretch>
            </p:blipFill>
            <p:spPr>
              <a:xfrm>
                <a:off x="1915286" y="3820714"/>
                <a:ext cx="48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9248112-7800-679D-8AB6-E1E3FC35CF6B}"/>
                  </a:ext>
                </a:extLst>
              </p14:cNvPr>
              <p14:cNvContentPartPr/>
              <p14:nvPr/>
            </p14:nvContentPartPr>
            <p14:xfrm>
              <a:off x="1950206" y="1192714"/>
              <a:ext cx="7560" cy="360"/>
            </p14:xfrm>
          </p:contentPart>
        </mc:Choice>
        <mc:Fallback xmlns="">
          <p:pic>
            <p:nvPicPr>
              <p:cNvPr id="5" name="Ink 4">
                <a:extLst>
                  <a:ext uri="{FF2B5EF4-FFF2-40B4-BE49-F238E27FC236}">
                    <a16:creationId xmlns:a16="http://schemas.microsoft.com/office/drawing/2014/main" id="{3C367349-8A86-B690-A4A1-E0EE08E69868}"/>
                  </a:ext>
                </a:extLst>
              </p:cNvPr>
              <p:cNvPicPr/>
              <p:nvPr/>
            </p:nvPicPr>
            <p:blipFill>
              <a:blip r:embed="rId6"/>
              <a:stretch>
                <a:fillRect/>
              </a:stretch>
            </p:blipFill>
            <p:spPr>
              <a:xfrm>
                <a:off x="1932566" y="1174714"/>
                <a:ext cx="43200" cy="36000"/>
              </a:xfrm>
              <a:prstGeom prst="rect">
                <a:avLst/>
              </a:prstGeom>
            </p:spPr>
          </p:pic>
        </mc:Fallback>
      </mc:AlternateContent>
    </p:spTree>
    <p:extLst>
      <p:ext uri="{BB962C8B-B14F-4D97-AF65-F5344CB8AC3E}">
        <p14:creationId xmlns:p14="http://schemas.microsoft.com/office/powerpoint/2010/main" val="624950483"/>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purl.org/dc/dcmitype/"/>
    <ds:schemaRef ds:uri="http://schemas.microsoft.com/office/2006/metadata/properties"/>
    <ds:schemaRef ds:uri="http://schemas.microsoft.com/office/infopath/2007/PartnerControls"/>
    <ds:schemaRef ds:uri="http://www.w3.org/XML/1998/namespace"/>
    <ds:schemaRef ds:uri="71af3243-3dd4-4a8d-8c0d-dd76da1f02a5"/>
    <ds:schemaRef ds:uri="http://purl.org/dc/elements/1.1/"/>
    <ds:schemaRef ds:uri="http://schemas.microsoft.com/office/2006/documentManagement/types"/>
    <ds:schemaRef ds:uri="http://purl.org/dc/terms/"/>
    <ds:schemaRef ds:uri="http://schemas.openxmlformats.org/package/2006/metadata/core-properties"/>
    <ds:schemaRef ds:uri="230e9df3-be65-4c73-a93b-d1236ebd677e"/>
    <ds:schemaRef ds:uri="16c05727-aa75-4e4a-9b5f-8a80a1165891"/>
    <ds:schemaRef ds:uri="http://schemas.microsoft.com/sharepoint/v3"/>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{EDCC2E50-673F-4CBE-8601-0398BB606B68}TFf0a5ceae-4542-492d-822e-d65a94fb0e1e3b562c5a_win32-009a0557e699</Template>
  <TotalTime>638</TotalTime>
  <Words>1097</Words>
  <Application>Microsoft Office PowerPoint</Application>
  <PresentationFormat>Widescreen</PresentationFormat>
  <Paragraphs>55</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Bookman Old Style</vt:lpstr>
      <vt:lpstr>Calibri</vt:lpstr>
      <vt:lpstr>Franklin Gothic Book</vt:lpstr>
      <vt:lpstr>Wingdings</vt:lpstr>
      <vt:lpstr>Custom</vt:lpstr>
      <vt:lpstr>Recitation 2</vt:lpstr>
      <vt:lpstr>"In matters of style, swim with the current; in matters of principle, stand like a rock."</vt:lpstr>
      <vt:lpstr>Question to the selected students:</vt:lpstr>
      <vt:lpstr>Question to the selected students:</vt:lpstr>
      <vt:lpstr>Question for the Rest of the Class :</vt:lpstr>
      <vt:lpstr>Question for the Rest of the Class :</vt:lpstr>
      <vt:lpstr>The Core Lesson</vt:lpstr>
      <vt:lpstr>The Core Lesson</vt:lpstr>
      <vt:lpstr>The Core Lesson</vt:lpstr>
      <vt:lpstr>The Core Lesson</vt:lpstr>
      <vt:lpstr>The Core Lesson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Mikko De Torres</dc:creator>
  <cp:lastModifiedBy>Mikko De Torres</cp:lastModifiedBy>
  <cp:revision>8</cp:revision>
  <cp:lastPrinted>2026-06-19T23:14:53Z</cp:lastPrinted>
  <dcterms:created xsi:type="dcterms:W3CDTF">2026-06-18T04:49:44Z</dcterms:created>
  <dcterms:modified xsi:type="dcterms:W3CDTF">2026-07-03T23:47:57Z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